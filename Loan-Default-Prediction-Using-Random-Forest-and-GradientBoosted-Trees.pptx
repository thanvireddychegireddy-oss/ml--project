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Inter" panose="020B0604020202020204" charset="0"/>
      <p:regular r:id="rId13"/>
    </p:embeddedFont>
    <p:embeddedFont>
      <p:font typeface="Inter Bold" panose="020B0604020202020204" charset="0"/>
      <p:regular r:id="rId14"/>
    </p:embeddedFont>
    <p:embeddedFont>
      <p:font typeface="Petrona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018DE0-9618-4248-B0F0-CE4A1CA91C1E}" v="1" dt="2026-08-28T06:33:35.4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gireddy Thanvi" userId="aed7d1ab2f3c8fc3" providerId="LiveId" clId="{EB6ED26A-2C30-4327-A708-32FD758F7B83}"/>
    <pc:docChg chg="modSld">
      <pc:chgData name="Chegireddy Thanvi" userId="aed7d1ab2f3c8fc3" providerId="LiveId" clId="{EB6ED26A-2C30-4327-A708-32FD758F7B83}" dt="2026-08-28T06:34:17.674" v="64" actId="255"/>
      <pc:docMkLst>
        <pc:docMk/>
      </pc:docMkLst>
      <pc:sldChg chg="modSp mod">
        <pc:chgData name="Chegireddy Thanvi" userId="aed7d1ab2f3c8fc3" providerId="LiveId" clId="{EB6ED26A-2C30-4327-A708-32FD758F7B83}" dt="2026-08-28T06:34:17.674" v="64" actId="255"/>
        <pc:sldMkLst>
          <pc:docMk/>
          <pc:sldMk cId="0" sldId="257"/>
        </pc:sldMkLst>
        <pc:spChg chg="mod">
          <ac:chgData name="Chegireddy Thanvi" userId="aed7d1ab2f3c8fc3" providerId="LiveId" clId="{EB6ED26A-2C30-4327-A708-32FD758F7B83}" dt="2026-08-28T06:33:31.008" v="42" actId="20577"/>
          <ac:spMkLst>
            <pc:docMk/>
            <pc:sldMk cId="0" sldId="257"/>
            <ac:spMk id="10" creationId="{00000000-0000-0000-0000-000000000000}"/>
          </ac:spMkLst>
        </pc:spChg>
        <pc:spChg chg="mod">
          <ac:chgData name="Chegireddy Thanvi" userId="aed7d1ab2f3c8fc3" providerId="LiveId" clId="{EB6ED26A-2C30-4327-A708-32FD758F7B83}" dt="2026-08-28T06:34:17.674" v="64" actId="255"/>
          <ac:spMkLst>
            <pc:docMk/>
            <pc:sldMk cId="0" sldId="257"/>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28-Aug-26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28-Aug-26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28-Aug-26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28-Aug-26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28-Aug-26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28-Aug-26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28-Aug-26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28-Aug-26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28-Aug-26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28-Aug-26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28-Aug-26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28-Aug-26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sp>
      </p:grpSp>
      <p:grpSp>
        <p:nvGrpSpPr>
          <p:cNvPr id="6" name="Group 6"/>
          <p:cNvGrpSpPr/>
          <p:nvPr/>
        </p:nvGrpSpPr>
        <p:grpSpPr>
          <a:xfrm>
            <a:off x="16628307" y="9846183"/>
            <a:ext cx="1609020" cy="384353"/>
            <a:chOff x="0" y="0"/>
            <a:chExt cx="2145360" cy="512470"/>
          </a:xfrm>
        </p:grpSpPr>
        <p:sp>
          <p:nvSpPr>
            <p:cNvPr id="7" name="Freeform 7" descr="preencoded.png">
              <a:hlinkClick r:id="rId3" tooltip="https://gamma.app/?utm_source=made-with-gamma"/>
            </p:cNvPr>
            <p:cNvSpPr/>
            <p:nvPr/>
          </p:nvSpPr>
          <p:spPr>
            <a:xfrm>
              <a:off x="0" y="0"/>
              <a:ext cx="2145411" cy="512445"/>
            </a:xfrm>
            <a:custGeom>
              <a:avLst/>
              <a:gdLst/>
              <a:ahLst/>
              <a:cxnLst/>
              <a:rect l="l" t="t" r="r" b="b"/>
              <a:pathLst>
                <a:path w="2145411" h="512445">
                  <a:moveTo>
                    <a:pt x="0" y="0"/>
                  </a:moveTo>
                  <a:lnTo>
                    <a:pt x="2145411" y="0"/>
                  </a:lnTo>
                  <a:lnTo>
                    <a:pt x="2145411" y="512445"/>
                  </a:lnTo>
                  <a:lnTo>
                    <a:pt x="0" y="512445"/>
                  </a:lnTo>
                  <a:lnTo>
                    <a:pt x="0" y="0"/>
                  </a:lnTo>
                  <a:close/>
                </a:path>
              </a:pathLst>
            </a:custGeom>
            <a:blipFill>
              <a:blip r:embed="rId4"/>
              <a:stretch>
                <a:fillRect r="2" b="-4"/>
              </a:stretch>
            </a:blipFill>
          </p:spPr>
        </p:sp>
      </p:grpSp>
      <p:grpSp>
        <p:nvGrpSpPr>
          <p:cNvPr id="8" name="Group 8"/>
          <p:cNvGrpSpPr/>
          <p:nvPr/>
        </p:nvGrpSpPr>
        <p:grpSpPr>
          <a:xfrm>
            <a:off x="11438649" y="0"/>
            <a:ext cx="6863191" cy="10295039"/>
            <a:chOff x="0" y="0"/>
            <a:chExt cx="9150922" cy="13726719"/>
          </a:xfrm>
        </p:grpSpPr>
        <p:sp>
          <p:nvSpPr>
            <p:cNvPr id="9" name="Freeform 9" descr="preencoded.png"/>
            <p:cNvSpPr/>
            <p:nvPr/>
          </p:nvSpPr>
          <p:spPr>
            <a:xfrm>
              <a:off x="0" y="0"/>
              <a:ext cx="9150858" cy="13726668"/>
            </a:xfrm>
            <a:custGeom>
              <a:avLst/>
              <a:gdLst/>
              <a:ahLst/>
              <a:cxnLst/>
              <a:rect l="l" t="t" r="r" b="b"/>
              <a:pathLst>
                <a:path w="9150858" h="13726668">
                  <a:moveTo>
                    <a:pt x="0" y="0"/>
                  </a:moveTo>
                  <a:lnTo>
                    <a:pt x="9150858" y="0"/>
                  </a:lnTo>
                  <a:lnTo>
                    <a:pt x="9150858" y="13726668"/>
                  </a:lnTo>
                  <a:lnTo>
                    <a:pt x="0" y="13726668"/>
                  </a:lnTo>
                  <a:lnTo>
                    <a:pt x="0" y="0"/>
                  </a:lnTo>
                  <a:close/>
                </a:path>
              </a:pathLst>
            </a:custGeom>
            <a:blipFill>
              <a:blip r:embed="rId5"/>
              <a:stretch>
                <a:fillRect l="-1" r="-1"/>
              </a:stretch>
            </a:blipFill>
          </p:spPr>
        </p:sp>
      </p:grpSp>
      <p:sp>
        <p:nvSpPr>
          <p:cNvPr id="10" name="TextBox 10"/>
          <p:cNvSpPr txBox="1"/>
          <p:nvPr/>
        </p:nvSpPr>
        <p:spPr>
          <a:xfrm>
            <a:off x="992991" y="2056495"/>
            <a:ext cx="9452677" cy="2954436"/>
          </a:xfrm>
          <a:prstGeom prst="rect">
            <a:avLst/>
          </a:prstGeom>
        </p:spPr>
        <p:txBody>
          <a:bodyPr lIns="0" tIns="0" rIns="0" bIns="0" rtlCol="0" anchor="t">
            <a:spAutoFit/>
          </a:bodyPr>
          <a:lstStyle/>
          <a:p>
            <a:pPr algn="ctr">
              <a:lnSpc>
                <a:spcPts val="7587"/>
              </a:lnSpc>
            </a:pPr>
            <a:r>
              <a:rPr lang="en-US" sz="6079" b="1" spc="-123">
                <a:solidFill>
                  <a:srgbClr val="F95F88"/>
                </a:solidFill>
                <a:latin typeface="Petrona Bold"/>
                <a:ea typeface="Petrona Bold"/>
                <a:cs typeface="Petrona Bold"/>
                <a:sym typeface="Petrona Bold"/>
              </a:rPr>
              <a:t>Loan Default Prediction Using Random Forest and Gradient‑Boosted Trees</a:t>
            </a:r>
          </a:p>
        </p:txBody>
      </p:sp>
      <p:sp>
        <p:nvSpPr>
          <p:cNvPr id="11" name="TextBox 11"/>
          <p:cNvSpPr txBox="1"/>
          <p:nvPr/>
        </p:nvSpPr>
        <p:spPr>
          <a:xfrm>
            <a:off x="992991" y="5360270"/>
            <a:ext cx="9452677" cy="2198743"/>
          </a:xfrm>
          <a:prstGeom prst="rect">
            <a:avLst/>
          </a:prstGeom>
        </p:spPr>
        <p:txBody>
          <a:bodyPr lIns="0" tIns="0" rIns="0" bIns="0" rtlCol="0" anchor="t">
            <a:spAutoFit/>
          </a:bodyPr>
          <a:lstStyle/>
          <a:p>
            <a:pPr algn="ctr">
              <a:lnSpc>
                <a:spcPts val="3474"/>
              </a:lnSpc>
            </a:pPr>
            <a:r>
              <a:rPr lang="en-US" sz="2176" spc="-45" dirty="0">
                <a:solidFill>
                  <a:srgbClr val="272525"/>
                </a:solidFill>
                <a:latin typeface="Inter"/>
                <a:ea typeface="Inter"/>
                <a:cs typeface="Inter"/>
                <a:sym typeface="Inter"/>
              </a:rPr>
              <a:t> </a:t>
            </a:r>
            <a:r>
              <a:rPr lang="en-US" sz="2300" spc="-45" dirty="0">
                <a:solidFill>
                  <a:srgbClr val="272525"/>
                </a:solidFill>
                <a:latin typeface="Inter"/>
                <a:ea typeface="Inter"/>
                <a:cs typeface="Inter"/>
                <a:sym typeface="Inter"/>
              </a:rPr>
              <a:t>course MACHINE LEARNING — BTech (Academic Year 2026‑27)</a:t>
            </a:r>
          </a:p>
          <a:p>
            <a:pPr algn="ctr">
              <a:lnSpc>
                <a:spcPts val="3474"/>
              </a:lnSpc>
            </a:pPr>
            <a:r>
              <a:rPr lang="en-US" sz="2300" b="1" spc="-45" dirty="0">
                <a:solidFill>
                  <a:schemeClr val="accent4">
                    <a:lumMod val="50000"/>
                  </a:schemeClr>
                </a:solidFill>
                <a:latin typeface="Inter Bold"/>
                <a:ea typeface="Inter Bold"/>
                <a:cs typeface="Inter"/>
                <a:sym typeface="Inter Bold"/>
              </a:rPr>
              <a:t>By </a:t>
            </a:r>
            <a:r>
              <a:rPr lang="en-US" sz="2300" spc="-45" dirty="0">
                <a:solidFill>
                  <a:schemeClr val="accent4">
                    <a:lumMod val="50000"/>
                  </a:schemeClr>
                </a:solidFill>
                <a:latin typeface="Inter"/>
                <a:ea typeface="Inter"/>
                <a:cs typeface="Inter"/>
                <a:sym typeface="Inter"/>
              </a:rPr>
              <a:t>Chegireddy Thanvi - Roll: 2520030214</a:t>
            </a:r>
          </a:p>
          <a:p>
            <a:pPr algn="ctr">
              <a:lnSpc>
                <a:spcPts val="3474"/>
              </a:lnSpc>
            </a:pPr>
            <a:r>
              <a:rPr lang="en-US" sz="2300" spc="-45" dirty="0">
                <a:solidFill>
                  <a:schemeClr val="accent4">
                    <a:lumMod val="50000"/>
                  </a:schemeClr>
                </a:solidFill>
                <a:latin typeface="Inter"/>
                <a:ea typeface="Inter"/>
                <a:cs typeface="Inter"/>
                <a:sym typeface="Inter"/>
              </a:rPr>
              <a:t>K Rishitha - Roll: 2520030202</a:t>
            </a:r>
          </a:p>
          <a:p>
            <a:pPr algn="ctr">
              <a:lnSpc>
                <a:spcPts val="3474"/>
              </a:lnSpc>
            </a:pPr>
            <a:r>
              <a:rPr lang="en-US" sz="2300" spc="-45" dirty="0">
                <a:solidFill>
                  <a:srgbClr val="272525"/>
                </a:solidFill>
                <a:latin typeface="Inter"/>
                <a:ea typeface="Inter"/>
                <a:cs typeface="Inter"/>
                <a:sym typeface="Inter"/>
              </a:rPr>
              <a:t>Guide: Shaik Asif </a:t>
            </a:r>
          </a:p>
          <a:p>
            <a:pPr algn="ctr">
              <a:lnSpc>
                <a:spcPts val="3474"/>
              </a:lnSpc>
            </a:pPr>
            <a:r>
              <a:rPr lang="en-US" sz="2300" spc="-45" dirty="0">
                <a:solidFill>
                  <a:srgbClr val="272525"/>
                </a:solidFill>
                <a:latin typeface="Inter"/>
                <a:ea typeface="Inter"/>
                <a:cs typeface="Inter"/>
                <a:sym typeface="Inter"/>
              </a:rPr>
              <a:t>Department : Computer Science &amp;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sp>
      </p:grpSp>
      <p:grpSp>
        <p:nvGrpSpPr>
          <p:cNvPr id="6" name="Group 6"/>
          <p:cNvGrpSpPr/>
          <p:nvPr/>
        </p:nvGrpSpPr>
        <p:grpSpPr>
          <a:xfrm>
            <a:off x="16628307" y="9846183"/>
            <a:ext cx="1609020" cy="384353"/>
            <a:chOff x="0" y="0"/>
            <a:chExt cx="2145360" cy="512470"/>
          </a:xfrm>
        </p:grpSpPr>
        <p:sp>
          <p:nvSpPr>
            <p:cNvPr id="7" name="Freeform 7" descr="preencoded.png">
              <a:hlinkClick r:id="rId3" tooltip="https://gamma.app/?utm_source=made-with-gamma"/>
            </p:cNvPr>
            <p:cNvSpPr/>
            <p:nvPr/>
          </p:nvSpPr>
          <p:spPr>
            <a:xfrm>
              <a:off x="0" y="0"/>
              <a:ext cx="2145411" cy="512445"/>
            </a:xfrm>
            <a:custGeom>
              <a:avLst/>
              <a:gdLst/>
              <a:ahLst/>
              <a:cxnLst/>
              <a:rect l="l" t="t" r="r" b="b"/>
              <a:pathLst>
                <a:path w="2145411" h="512445">
                  <a:moveTo>
                    <a:pt x="0" y="0"/>
                  </a:moveTo>
                  <a:lnTo>
                    <a:pt x="2145411" y="0"/>
                  </a:lnTo>
                  <a:lnTo>
                    <a:pt x="2145411" y="512445"/>
                  </a:lnTo>
                  <a:lnTo>
                    <a:pt x="0" y="512445"/>
                  </a:lnTo>
                  <a:lnTo>
                    <a:pt x="0" y="0"/>
                  </a:lnTo>
                  <a:close/>
                </a:path>
              </a:pathLst>
            </a:custGeom>
            <a:blipFill>
              <a:blip r:embed="rId4"/>
              <a:stretch>
                <a:fillRect r="2" b="-4"/>
              </a:stretch>
            </a:blipFill>
          </p:spPr>
        </p:sp>
      </p:grpSp>
      <p:grpSp>
        <p:nvGrpSpPr>
          <p:cNvPr id="8" name="Group 8"/>
          <p:cNvGrpSpPr/>
          <p:nvPr/>
        </p:nvGrpSpPr>
        <p:grpSpPr>
          <a:xfrm>
            <a:off x="11438649" y="0"/>
            <a:ext cx="6863191" cy="10295039"/>
            <a:chOff x="0" y="0"/>
            <a:chExt cx="9150922" cy="13726719"/>
          </a:xfrm>
        </p:grpSpPr>
        <p:sp>
          <p:nvSpPr>
            <p:cNvPr id="9" name="Freeform 9" descr="preencoded.png"/>
            <p:cNvSpPr/>
            <p:nvPr/>
          </p:nvSpPr>
          <p:spPr>
            <a:xfrm>
              <a:off x="0" y="0"/>
              <a:ext cx="9150858" cy="13726668"/>
            </a:xfrm>
            <a:custGeom>
              <a:avLst/>
              <a:gdLst/>
              <a:ahLst/>
              <a:cxnLst/>
              <a:rect l="l" t="t" r="r" b="b"/>
              <a:pathLst>
                <a:path w="9150858" h="13726668">
                  <a:moveTo>
                    <a:pt x="0" y="0"/>
                  </a:moveTo>
                  <a:lnTo>
                    <a:pt x="9150858" y="0"/>
                  </a:lnTo>
                  <a:lnTo>
                    <a:pt x="9150858" y="13726668"/>
                  </a:lnTo>
                  <a:lnTo>
                    <a:pt x="0" y="13726668"/>
                  </a:lnTo>
                  <a:lnTo>
                    <a:pt x="0" y="0"/>
                  </a:lnTo>
                  <a:close/>
                </a:path>
              </a:pathLst>
            </a:custGeom>
            <a:blipFill>
              <a:blip r:embed="rId5"/>
              <a:stretch>
                <a:fillRect l="-1" r="-1"/>
              </a:stretch>
            </a:blipFill>
          </p:spPr>
        </p:sp>
      </p:grpSp>
      <p:sp>
        <p:nvSpPr>
          <p:cNvPr id="10" name="TextBox 10"/>
          <p:cNvSpPr txBox="1"/>
          <p:nvPr/>
        </p:nvSpPr>
        <p:spPr>
          <a:xfrm>
            <a:off x="992991" y="3217964"/>
            <a:ext cx="9452677" cy="766364"/>
          </a:xfrm>
          <a:prstGeom prst="rect">
            <a:avLst/>
          </a:prstGeom>
        </p:spPr>
        <p:txBody>
          <a:bodyPr lIns="0" tIns="0" rIns="0" bIns="0" rtlCol="0" anchor="t">
            <a:spAutoFit/>
          </a:bodyPr>
          <a:lstStyle/>
          <a:p>
            <a:pPr algn="l">
              <a:lnSpc>
                <a:spcPts val="6088"/>
              </a:lnSpc>
            </a:pPr>
            <a:r>
              <a:rPr lang="en-US" sz="4878" b="1" spc="-97" dirty="0">
                <a:solidFill>
                  <a:srgbClr val="F95F88"/>
                </a:solidFill>
                <a:latin typeface="Petrona Bold"/>
                <a:ea typeface="Petrona Bold"/>
                <a:cs typeface="Petrona Bold"/>
                <a:sym typeface="Petrona Bold"/>
              </a:rPr>
              <a:t>Problem Statement</a:t>
            </a:r>
          </a:p>
        </p:txBody>
      </p:sp>
      <p:sp>
        <p:nvSpPr>
          <p:cNvPr id="11" name="TextBox 11"/>
          <p:cNvSpPr txBox="1"/>
          <p:nvPr/>
        </p:nvSpPr>
        <p:spPr>
          <a:xfrm>
            <a:off x="992991" y="5156216"/>
            <a:ext cx="9452677" cy="2477601"/>
          </a:xfrm>
          <a:prstGeom prst="rect">
            <a:avLst/>
          </a:prstGeom>
        </p:spPr>
        <p:txBody>
          <a:bodyPr lIns="0" tIns="0" rIns="0" bIns="0" rtlCol="0" anchor="t">
            <a:spAutoFit/>
          </a:bodyPr>
          <a:lstStyle/>
          <a:p>
            <a:r>
              <a:rPr lang="en-US" sz="2300" dirty="0"/>
              <a:t>Loan default is a major challenge for banks and financial institutions because failure to identify high-risk borrowers can lead to financial losses.</a:t>
            </a:r>
          </a:p>
          <a:p>
            <a:r>
              <a:rPr lang="en-US" sz="2300" dirty="0"/>
              <a:t>The objective of our project is to develop a machine-learning-based loan default prediction system that analyzes borrower and loan-related information and predicts whether a borrower is likely to default or repay the loan.</a:t>
            </a:r>
          </a:p>
          <a:p>
            <a:r>
              <a:rPr lang="en-US" sz="2300" dirty="0"/>
              <a:t>The model will help identify important factors associated with loan default and support more data-driven credit-risk assessment</a:t>
            </a:r>
            <a:endParaRPr lang="en-US" sz="2300" spc="-45" dirty="0">
              <a:solidFill>
                <a:srgbClr val="272525"/>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sp>
      </p:grpSp>
      <p:grpSp>
        <p:nvGrpSpPr>
          <p:cNvPr id="6" name="Group 6"/>
          <p:cNvGrpSpPr/>
          <p:nvPr/>
        </p:nvGrpSpPr>
        <p:grpSpPr>
          <a:xfrm>
            <a:off x="0" y="0"/>
            <a:ext cx="6863191" cy="10295039"/>
            <a:chOff x="0" y="0"/>
            <a:chExt cx="9150922" cy="13726719"/>
          </a:xfrm>
        </p:grpSpPr>
        <p:sp>
          <p:nvSpPr>
            <p:cNvPr id="7" name="Freeform 7" descr="preencoded.png"/>
            <p:cNvSpPr/>
            <p:nvPr/>
          </p:nvSpPr>
          <p:spPr>
            <a:xfrm>
              <a:off x="0" y="0"/>
              <a:ext cx="9150858" cy="13726668"/>
            </a:xfrm>
            <a:custGeom>
              <a:avLst/>
              <a:gdLst/>
              <a:ahLst/>
              <a:cxnLst/>
              <a:rect l="l" t="t" r="r" b="b"/>
              <a:pathLst>
                <a:path w="9150858" h="13726668">
                  <a:moveTo>
                    <a:pt x="0" y="0"/>
                  </a:moveTo>
                  <a:lnTo>
                    <a:pt x="9150858" y="0"/>
                  </a:lnTo>
                  <a:lnTo>
                    <a:pt x="9150858" y="13726668"/>
                  </a:lnTo>
                  <a:lnTo>
                    <a:pt x="0" y="13726668"/>
                  </a:lnTo>
                  <a:lnTo>
                    <a:pt x="0" y="0"/>
                  </a:lnTo>
                  <a:close/>
                </a:path>
              </a:pathLst>
            </a:custGeom>
            <a:blipFill>
              <a:blip r:embed="rId3"/>
              <a:stretch>
                <a:fillRect l="-1" r="-1"/>
              </a:stretch>
            </a:blipFill>
          </p:spPr>
        </p:sp>
      </p:grpSp>
      <p:grpSp>
        <p:nvGrpSpPr>
          <p:cNvPr id="8" name="Group 8"/>
          <p:cNvGrpSpPr/>
          <p:nvPr/>
        </p:nvGrpSpPr>
        <p:grpSpPr>
          <a:xfrm>
            <a:off x="141789" y="760962"/>
            <a:ext cx="6579460" cy="8772982"/>
            <a:chOff x="0" y="0"/>
            <a:chExt cx="8772614" cy="11697310"/>
          </a:xfrm>
        </p:grpSpPr>
        <p:sp>
          <p:nvSpPr>
            <p:cNvPr id="9" name="Freeform 9" descr="preencoded.png"/>
            <p:cNvSpPr/>
            <p:nvPr/>
          </p:nvSpPr>
          <p:spPr>
            <a:xfrm>
              <a:off x="0" y="0"/>
              <a:ext cx="8772652" cy="11697335"/>
            </a:xfrm>
            <a:custGeom>
              <a:avLst/>
              <a:gdLst/>
              <a:ahLst/>
              <a:cxnLst/>
              <a:rect l="l" t="t" r="r" b="b"/>
              <a:pathLst>
                <a:path w="8772652" h="11697335">
                  <a:moveTo>
                    <a:pt x="0" y="0"/>
                  </a:moveTo>
                  <a:lnTo>
                    <a:pt x="8772652" y="0"/>
                  </a:lnTo>
                  <a:lnTo>
                    <a:pt x="8772652" y="11697335"/>
                  </a:lnTo>
                  <a:lnTo>
                    <a:pt x="0" y="11697335"/>
                  </a:lnTo>
                  <a:lnTo>
                    <a:pt x="0" y="0"/>
                  </a:lnTo>
                  <a:close/>
                </a:path>
              </a:pathLst>
            </a:custGeom>
            <a:blipFill>
              <a:blip r:embed="rId4"/>
              <a:stretch>
                <a:fillRect t="-13" b="-13"/>
              </a:stretch>
            </a:blipFill>
          </p:spPr>
        </p:sp>
      </p:grpSp>
      <p:sp>
        <p:nvSpPr>
          <p:cNvPr id="10" name="TextBox 10"/>
          <p:cNvSpPr txBox="1"/>
          <p:nvPr/>
        </p:nvSpPr>
        <p:spPr>
          <a:xfrm>
            <a:off x="7856182" y="2473100"/>
            <a:ext cx="9452677" cy="766364"/>
          </a:xfrm>
          <a:prstGeom prst="rect">
            <a:avLst/>
          </a:prstGeom>
        </p:spPr>
        <p:txBody>
          <a:bodyPr lIns="0" tIns="0" rIns="0" bIns="0" rtlCol="0" anchor="t">
            <a:spAutoFit/>
          </a:bodyPr>
          <a:lstStyle/>
          <a:p>
            <a:pPr algn="l">
              <a:lnSpc>
                <a:spcPts val="6088"/>
              </a:lnSpc>
            </a:pPr>
            <a:r>
              <a:rPr lang="en-US" sz="4878" b="1" spc="-97" dirty="0">
                <a:solidFill>
                  <a:srgbClr val="F95F88"/>
                </a:solidFill>
                <a:latin typeface="Petrona Bold"/>
                <a:ea typeface="Petrona Bold"/>
                <a:cs typeface="Petrona Bold"/>
                <a:sym typeface="Petrona Bold"/>
              </a:rPr>
              <a:t>Abstract </a:t>
            </a:r>
          </a:p>
        </p:txBody>
      </p:sp>
      <p:sp>
        <p:nvSpPr>
          <p:cNvPr id="11" name="TextBox 11"/>
          <p:cNvSpPr txBox="1"/>
          <p:nvPr/>
        </p:nvSpPr>
        <p:spPr>
          <a:xfrm>
            <a:off x="7856182" y="3631178"/>
            <a:ext cx="9452677" cy="4162044"/>
          </a:xfrm>
          <a:prstGeom prst="rect">
            <a:avLst/>
          </a:prstGeom>
        </p:spPr>
        <p:txBody>
          <a:bodyPr lIns="0" tIns="0" rIns="0" bIns="0" rtlCol="0" anchor="t">
            <a:spAutoFit/>
          </a:bodyPr>
          <a:lstStyle/>
          <a:p>
            <a:pPr algn="l">
              <a:lnSpc>
                <a:spcPts val="3474"/>
              </a:lnSpc>
            </a:pPr>
            <a:r>
              <a:rPr lang="en-US" sz="2176" spc="-45" dirty="0">
                <a:solidFill>
                  <a:srgbClr val="272525"/>
                </a:solidFill>
                <a:latin typeface="Inter"/>
                <a:ea typeface="Inter"/>
                <a:cs typeface="Inter"/>
                <a:sym typeface="Inter"/>
              </a:rPr>
              <a:t>Loan default prediction is vital for reducing non‑performing assets and improving lending decisions. This work builds, compares, and analyses Random Forest and Gradient‑Boosted Tree models (</a:t>
            </a:r>
            <a:r>
              <a:rPr lang="en-US" sz="2176" spc="-45" dirty="0" err="1">
                <a:solidFill>
                  <a:srgbClr val="272525"/>
                </a:solidFill>
                <a:latin typeface="Inter"/>
                <a:ea typeface="Inter"/>
                <a:cs typeface="Inter"/>
                <a:sym typeface="Inter"/>
              </a:rPr>
              <a:t>XGBoost</a:t>
            </a:r>
            <a:r>
              <a:rPr lang="en-US" sz="2176" spc="-45" dirty="0">
                <a:solidFill>
                  <a:srgbClr val="272525"/>
                </a:solidFill>
                <a:latin typeface="Inter"/>
                <a:ea typeface="Inter"/>
                <a:cs typeface="Inter"/>
                <a:sym typeface="Inter"/>
              </a:rPr>
              <a:t> / </a:t>
            </a:r>
            <a:r>
              <a:rPr lang="en-US" sz="2176" spc="-45" dirty="0" err="1">
                <a:solidFill>
                  <a:srgbClr val="272525"/>
                </a:solidFill>
                <a:latin typeface="Inter"/>
                <a:ea typeface="Inter"/>
                <a:cs typeface="Inter"/>
                <a:sym typeface="Inter"/>
              </a:rPr>
              <a:t>LightGBM</a:t>
            </a:r>
            <a:r>
              <a:rPr lang="en-US" sz="2176" spc="-45" dirty="0">
                <a:solidFill>
                  <a:srgbClr val="272525"/>
                </a:solidFill>
                <a:latin typeface="Inter"/>
                <a:ea typeface="Inter"/>
                <a:cs typeface="Inter"/>
                <a:sym typeface="Inter"/>
              </a:rPr>
              <a:t>) on cleaned historical loan data. The pipeline includes missing‑value treatment, categorical encoding, feature engineering and selection, model training with cross‑validation, and evaluation using Accuracy, Precision, Recall, F1‑Score and ROC‑AUC. Results highlight the best performing model, key predictors of default, and practical recommendations for deployment in banking workflows.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sp>
      </p:grpSp>
      <p:grpSp>
        <p:nvGrpSpPr>
          <p:cNvPr id="6" name="Group 6"/>
          <p:cNvGrpSpPr/>
          <p:nvPr/>
        </p:nvGrpSpPr>
        <p:grpSpPr>
          <a:xfrm>
            <a:off x="992991" y="3416046"/>
            <a:ext cx="6110888" cy="3462814"/>
            <a:chOff x="0" y="0"/>
            <a:chExt cx="8147850" cy="4617085"/>
          </a:xfrm>
        </p:grpSpPr>
        <p:sp>
          <p:nvSpPr>
            <p:cNvPr id="7" name="Freeform 7" descr="preencoded.png"/>
            <p:cNvSpPr/>
            <p:nvPr/>
          </p:nvSpPr>
          <p:spPr>
            <a:xfrm>
              <a:off x="0" y="0"/>
              <a:ext cx="8147812" cy="4617085"/>
            </a:xfrm>
            <a:custGeom>
              <a:avLst/>
              <a:gdLst/>
              <a:ahLst/>
              <a:cxnLst/>
              <a:rect l="l" t="t" r="r" b="b"/>
              <a:pathLst>
                <a:path w="8147812" h="4617085">
                  <a:moveTo>
                    <a:pt x="0" y="0"/>
                  </a:moveTo>
                  <a:lnTo>
                    <a:pt x="8147812" y="0"/>
                  </a:lnTo>
                  <a:lnTo>
                    <a:pt x="8147812" y="4617085"/>
                  </a:lnTo>
                  <a:lnTo>
                    <a:pt x="0" y="4617085"/>
                  </a:lnTo>
                  <a:lnTo>
                    <a:pt x="0" y="0"/>
                  </a:lnTo>
                  <a:close/>
                </a:path>
              </a:pathLst>
            </a:custGeom>
            <a:blipFill>
              <a:blip r:embed="rId3"/>
              <a:stretch>
                <a:fillRect t="-27" b="-27"/>
              </a:stretch>
            </a:blipFill>
          </p:spPr>
        </p:sp>
      </p:grpSp>
      <p:sp>
        <p:nvSpPr>
          <p:cNvPr id="8" name="TextBox 8"/>
          <p:cNvSpPr txBox="1"/>
          <p:nvPr/>
        </p:nvSpPr>
        <p:spPr>
          <a:xfrm>
            <a:off x="7805690" y="1756972"/>
            <a:ext cx="9512551" cy="808749"/>
          </a:xfrm>
          <a:prstGeom prst="rect">
            <a:avLst/>
          </a:prstGeom>
        </p:spPr>
        <p:txBody>
          <a:bodyPr lIns="0" tIns="0" rIns="0" bIns="0" rtlCol="0" anchor="t">
            <a:spAutoFit/>
          </a:bodyPr>
          <a:lstStyle/>
          <a:p>
            <a:pPr algn="l">
              <a:lnSpc>
                <a:spcPts val="6088"/>
              </a:lnSpc>
            </a:pPr>
            <a:r>
              <a:rPr lang="en-US" sz="4878" b="1" spc="-97">
                <a:solidFill>
                  <a:srgbClr val="F95F88"/>
                </a:solidFill>
                <a:latin typeface="Petrona Bold"/>
                <a:ea typeface="Petrona Bold"/>
                <a:cs typeface="Petrona Bold"/>
                <a:sym typeface="Petrona Bold"/>
              </a:rPr>
              <a:t>Data &amp; Preprocessing</a:t>
            </a:r>
          </a:p>
        </p:txBody>
      </p:sp>
      <p:sp>
        <p:nvSpPr>
          <p:cNvPr id="9" name="TextBox 9"/>
          <p:cNvSpPr txBox="1"/>
          <p:nvPr/>
        </p:nvSpPr>
        <p:spPr>
          <a:xfrm>
            <a:off x="7805690" y="2848861"/>
            <a:ext cx="9512551" cy="5845178"/>
          </a:xfrm>
          <a:prstGeom prst="rect">
            <a:avLst/>
          </a:prstGeom>
        </p:spPr>
        <p:txBody>
          <a:bodyPr lIns="0" tIns="0" rIns="0" bIns="0" rtlCol="0" anchor="t">
            <a:spAutoFit/>
          </a:bodyPr>
          <a:lstStyle/>
          <a:p>
            <a:pPr marL="394236" lvl="1" indent="-197118" algn="l">
              <a:lnSpc>
                <a:spcPts val="3474"/>
              </a:lnSpc>
              <a:buFont typeface="Arial"/>
              <a:buChar char="•"/>
            </a:pPr>
            <a:r>
              <a:rPr lang="en-US" sz="2176" spc="-45">
                <a:solidFill>
                  <a:srgbClr val="272525"/>
                </a:solidFill>
                <a:latin typeface="Inter"/>
                <a:ea typeface="Inter"/>
                <a:cs typeface="Inter"/>
                <a:sym typeface="Inter"/>
              </a:rPr>
              <a:t>Source: Historical loan CSV with applicant income, loan amount, credit history, employment status, loan term, debt‑to‑income ratio, and additional financial indicators.</a:t>
            </a:r>
          </a:p>
          <a:p>
            <a:pPr marL="394236" lvl="1" indent="-197118" algn="l">
              <a:lnSpc>
                <a:spcPts val="3474"/>
              </a:lnSpc>
              <a:buFont typeface="Arial"/>
              <a:buChar char="•"/>
            </a:pPr>
            <a:r>
              <a:rPr lang="en-US" sz="2176" spc="-45">
                <a:solidFill>
                  <a:srgbClr val="272525"/>
                </a:solidFill>
                <a:latin typeface="Inter"/>
                <a:ea typeface="Inter"/>
                <a:cs typeface="Inter"/>
                <a:sym typeface="Inter"/>
              </a:rPr>
              <a:t>Cleaning: Impute missing values (median for numerics, mode/unknown for categoricals), remove duplicates, outlier checks with IQR winsorization.</a:t>
            </a:r>
          </a:p>
          <a:p>
            <a:pPr marL="394236" lvl="1" indent="-197118" algn="l">
              <a:lnSpc>
                <a:spcPts val="3474"/>
              </a:lnSpc>
              <a:buFont typeface="Arial"/>
              <a:buChar char="•"/>
            </a:pPr>
            <a:r>
              <a:rPr lang="en-US" sz="2176" spc="-45">
                <a:solidFill>
                  <a:srgbClr val="272525"/>
                </a:solidFill>
                <a:latin typeface="Inter"/>
                <a:ea typeface="Inter"/>
                <a:cs typeface="Inter"/>
                <a:sym typeface="Inter"/>
              </a:rPr>
              <a:t>Encoding: One‑hot or target encoding for categoricals depending on cardinality; ordinal mapping for ordered features.</a:t>
            </a:r>
          </a:p>
          <a:p>
            <a:pPr marL="394236" lvl="1" indent="-197118" algn="l">
              <a:lnSpc>
                <a:spcPts val="3474"/>
              </a:lnSpc>
              <a:buFont typeface="Arial"/>
              <a:buChar char="•"/>
            </a:pPr>
            <a:r>
              <a:rPr lang="en-US" sz="2176" spc="-45">
                <a:solidFill>
                  <a:srgbClr val="272525"/>
                </a:solidFill>
                <a:latin typeface="Inter"/>
                <a:ea typeface="Inter"/>
                <a:cs typeface="Inter"/>
                <a:sym typeface="Inter"/>
              </a:rPr>
              <a:t>Scaling: StandardScaler for distance‑sensitive models; tree‑based models kept unscaled where appropriate.</a:t>
            </a:r>
          </a:p>
          <a:p>
            <a:pPr marL="394236" lvl="1" indent="-197118" algn="l">
              <a:lnSpc>
                <a:spcPts val="3474"/>
              </a:lnSpc>
              <a:buFont typeface="Arial"/>
              <a:buChar char="•"/>
            </a:pPr>
            <a:r>
              <a:rPr lang="en-US" sz="2176" spc="-45">
                <a:solidFill>
                  <a:srgbClr val="272525"/>
                </a:solidFill>
                <a:latin typeface="Inter"/>
                <a:ea typeface="Inter"/>
                <a:cs typeface="Inter"/>
                <a:sym typeface="Inter"/>
              </a:rPr>
              <a:t>Feature engineering: Debt‑to‑income ratios, employment tenure buckets, interaction terms, and missing‑value indicator flags.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sp>
      </p:grpSp>
      <p:grpSp>
        <p:nvGrpSpPr>
          <p:cNvPr id="6" name="Group 6"/>
          <p:cNvGrpSpPr/>
          <p:nvPr/>
        </p:nvGrpSpPr>
        <p:grpSpPr>
          <a:xfrm>
            <a:off x="0" y="0"/>
            <a:ext cx="6863191" cy="10295039"/>
            <a:chOff x="0" y="0"/>
            <a:chExt cx="9150922" cy="13726719"/>
          </a:xfrm>
        </p:grpSpPr>
        <p:sp>
          <p:nvSpPr>
            <p:cNvPr id="7" name="Freeform 7" descr="preencoded.png"/>
            <p:cNvSpPr/>
            <p:nvPr/>
          </p:nvSpPr>
          <p:spPr>
            <a:xfrm>
              <a:off x="0" y="0"/>
              <a:ext cx="9150858" cy="13726668"/>
            </a:xfrm>
            <a:custGeom>
              <a:avLst/>
              <a:gdLst/>
              <a:ahLst/>
              <a:cxnLst/>
              <a:rect l="l" t="t" r="r" b="b"/>
              <a:pathLst>
                <a:path w="9150858" h="13726668">
                  <a:moveTo>
                    <a:pt x="0" y="0"/>
                  </a:moveTo>
                  <a:lnTo>
                    <a:pt x="9150858" y="0"/>
                  </a:lnTo>
                  <a:lnTo>
                    <a:pt x="9150858" y="13726668"/>
                  </a:lnTo>
                  <a:lnTo>
                    <a:pt x="0" y="13726668"/>
                  </a:lnTo>
                  <a:lnTo>
                    <a:pt x="0" y="0"/>
                  </a:lnTo>
                  <a:close/>
                </a:path>
              </a:pathLst>
            </a:custGeom>
            <a:blipFill>
              <a:blip r:embed="rId3"/>
              <a:stretch>
                <a:fillRect l="-1" r="-1"/>
              </a:stretch>
            </a:blipFill>
          </p:spPr>
        </p:sp>
      </p:grpSp>
      <p:grpSp>
        <p:nvGrpSpPr>
          <p:cNvPr id="8" name="Group 8"/>
          <p:cNvGrpSpPr/>
          <p:nvPr/>
        </p:nvGrpSpPr>
        <p:grpSpPr>
          <a:xfrm>
            <a:off x="119596" y="731463"/>
            <a:ext cx="6623847" cy="8832113"/>
            <a:chOff x="0" y="0"/>
            <a:chExt cx="8831796" cy="11776151"/>
          </a:xfrm>
        </p:grpSpPr>
        <p:sp>
          <p:nvSpPr>
            <p:cNvPr id="9" name="Freeform 9" descr="preencoded.png"/>
            <p:cNvSpPr/>
            <p:nvPr/>
          </p:nvSpPr>
          <p:spPr>
            <a:xfrm>
              <a:off x="0" y="0"/>
              <a:ext cx="8831834" cy="11776202"/>
            </a:xfrm>
            <a:custGeom>
              <a:avLst/>
              <a:gdLst/>
              <a:ahLst/>
              <a:cxnLst/>
              <a:rect l="l" t="t" r="r" b="b"/>
              <a:pathLst>
                <a:path w="8831834" h="11776202">
                  <a:moveTo>
                    <a:pt x="0" y="0"/>
                  </a:moveTo>
                  <a:lnTo>
                    <a:pt x="8831834" y="0"/>
                  </a:lnTo>
                  <a:lnTo>
                    <a:pt x="8831834" y="11776202"/>
                  </a:lnTo>
                  <a:lnTo>
                    <a:pt x="0" y="11776202"/>
                  </a:lnTo>
                  <a:lnTo>
                    <a:pt x="0" y="0"/>
                  </a:lnTo>
                  <a:close/>
                </a:path>
              </a:pathLst>
            </a:custGeom>
            <a:blipFill>
              <a:blip r:embed="rId4"/>
              <a:stretch>
                <a:fillRect l="-49" r="-48"/>
              </a:stretch>
            </a:blipFill>
          </p:spPr>
        </p:sp>
      </p:grpSp>
      <p:sp>
        <p:nvSpPr>
          <p:cNvPr id="10" name="TextBox 10"/>
          <p:cNvSpPr txBox="1"/>
          <p:nvPr/>
        </p:nvSpPr>
        <p:spPr>
          <a:xfrm>
            <a:off x="7856182" y="810130"/>
            <a:ext cx="9452677" cy="686914"/>
          </a:xfrm>
          <a:prstGeom prst="rect">
            <a:avLst/>
          </a:prstGeom>
        </p:spPr>
        <p:txBody>
          <a:bodyPr lIns="0" tIns="0" rIns="0" bIns="0" rtlCol="0" anchor="t">
            <a:spAutoFit/>
          </a:bodyPr>
          <a:lstStyle/>
          <a:p>
            <a:pPr algn="l">
              <a:lnSpc>
                <a:spcPts val="5152"/>
              </a:lnSpc>
            </a:pPr>
            <a:r>
              <a:rPr lang="en-US" sz="4128" b="1" spc="-82">
                <a:solidFill>
                  <a:srgbClr val="F95F88"/>
                </a:solidFill>
                <a:latin typeface="Petrona Bold"/>
                <a:ea typeface="Petrona Bold"/>
                <a:cs typeface="Petrona Bold"/>
                <a:sym typeface="Petrona Bold"/>
              </a:rPr>
              <a:t>Models &amp; Training Strategy</a:t>
            </a:r>
          </a:p>
        </p:txBody>
      </p:sp>
      <p:sp>
        <p:nvSpPr>
          <p:cNvPr id="11" name="TextBox 11"/>
          <p:cNvSpPr txBox="1"/>
          <p:nvPr/>
        </p:nvSpPr>
        <p:spPr>
          <a:xfrm>
            <a:off x="7856182" y="1752371"/>
            <a:ext cx="10367762" cy="400621"/>
          </a:xfrm>
          <a:prstGeom prst="rect">
            <a:avLst/>
          </a:prstGeom>
        </p:spPr>
        <p:txBody>
          <a:bodyPr lIns="0" tIns="0" rIns="0" bIns="0" rtlCol="0" anchor="t">
            <a:spAutoFit/>
          </a:bodyPr>
          <a:lstStyle/>
          <a:p>
            <a:pPr algn="l">
              <a:lnSpc>
                <a:spcPts val="2769"/>
              </a:lnSpc>
            </a:pPr>
            <a:r>
              <a:rPr lang="en-US" sz="1876" spc="-37">
                <a:solidFill>
                  <a:srgbClr val="272525"/>
                </a:solidFill>
                <a:latin typeface="Inter"/>
                <a:ea typeface="Inter"/>
                <a:cs typeface="Inter"/>
                <a:sym typeface="Inter"/>
              </a:rPr>
              <a:t>Two ensemble learners evaluated:</a:t>
            </a:r>
          </a:p>
        </p:txBody>
      </p:sp>
      <p:sp>
        <p:nvSpPr>
          <p:cNvPr id="12" name="Freeform 12" descr="preencoded.png"/>
          <p:cNvSpPr/>
          <p:nvPr/>
        </p:nvSpPr>
        <p:spPr>
          <a:xfrm>
            <a:off x="7856182" y="2380136"/>
            <a:ext cx="598446" cy="598456"/>
          </a:xfrm>
          <a:custGeom>
            <a:avLst/>
            <a:gdLst/>
            <a:ahLst/>
            <a:cxnLst/>
            <a:rect l="l" t="t" r="r" b="b"/>
            <a:pathLst>
              <a:path w="598446" h="598456">
                <a:moveTo>
                  <a:pt x="0" y="0"/>
                </a:moveTo>
                <a:lnTo>
                  <a:pt x="598446" y="0"/>
                </a:lnTo>
                <a:lnTo>
                  <a:pt x="598446" y="598455"/>
                </a:lnTo>
                <a:lnTo>
                  <a:pt x="0" y="598455"/>
                </a:lnTo>
                <a:lnTo>
                  <a:pt x="0" y="0"/>
                </a:lnTo>
                <a:close/>
              </a:path>
            </a:pathLst>
          </a:custGeom>
          <a:blipFill>
            <a:blip>
              <a:extLst>
                <a:ext uri="{96DAC541-7B7A-43D3-8B79-37D633B846F1}">
                  <asvg:svgBlip xmlns:asvg="http://schemas.microsoft.com/office/drawing/2016/SVG/main" r:embed="rId5"/>
                </a:ext>
              </a:extLst>
            </a:blip>
            <a:stretch>
              <a:fillRect t="-792" b="-792"/>
            </a:stretch>
          </a:blipFill>
        </p:spPr>
      </p:sp>
      <p:sp>
        <p:nvSpPr>
          <p:cNvPr id="13" name="TextBox 13"/>
          <p:cNvSpPr txBox="1"/>
          <p:nvPr/>
        </p:nvSpPr>
        <p:spPr>
          <a:xfrm>
            <a:off x="7856182" y="3202476"/>
            <a:ext cx="9452677" cy="439960"/>
          </a:xfrm>
          <a:prstGeom prst="rect">
            <a:avLst/>
          </a:prstGeom>
        </p:spPr>
        <p:txBody>
          <a:bodyPr lIns="0" tIns="0" rIns="0" bIns="0" rtlCol="0" anchor="t">
            <a:spAutoFit/>
          </a:bodyPr>
          <a:lstStyle/>
          <a:p>
            <a:pPr algn="l">
              <a:lnSpc>
                <a:spcPts val="3184"/>
              </a:lnSpc>
            </a:pPr>
            <a:r>
              <a:rPr lang="en-US" sz="2551" b="1" spc="-52">
                <a:solidFill>
                  <a:srgbClr val="272525"/>
                </a:solidFill>
                <a:latin typeface="Petrona Bold"/>
                <a:ea typeface="Petrona Bold"/>
                <a:cs typeface="Petrona Bold"/>
                <a:sym typeface="Petrona Bold"/>
              </a:rPr>
              <a:t>Random Forest</a:t>
            </a:r>
          </a:p>
        </p:txBody>
      </p:sp>
      <p:sp>
        <p:nvSpPr>
          <p:cNvPr id="14" name="TextBox 14"/>
          <p:cNvSpPr txBox="1"/>
          <p:nvPr/>
        </p:nvSpPr>
        <p:spPr>
          <a:xfrm>
            <a:off x="7856182" y="3715903"/>
            <a:ext cx="9452677" cy="753618"/>
          </a:xfrm>
          <a:prstGeom prst="rect">
            <a:avLst/>
          </a:prstGeom>
        </p:spPr>
        <p:txBody>
          <a:bodyPr lIns="0" tIns="0" rIns="0" bIns="0" rtlCol="0" anchor="t">
            <a:spAutoFit/>
          </a:bodyPr>
          <a:lstStyle/>
          <a:p>
            <a:pPr algn="l">
              <a:lnSpc>
                <a:spcPts val="2769"/>
              </a:lnSpc>
            </a:pPr>
            <a:r>
              <a:rPr lang="en-US" sz="1876" spc="-37">
                <a:solidFill>
                  <a:srgbClr val="272525"/>
                </a:solidFill>
                <a:latin typeface="Inter"/>
                <a:ea typeface="Inter"/>
                <a:cs typeface="Inter"/>
                <a:sym typeface="Inter"/>
              </a:rPr>
              <a:t>Ensemble of decision trees with bootstrap aggregation and feature subsampling. Hyperparameters tuned: n_estimators, max_depth, max_features, min_samples_leaf.</a:t>
            </a:r>
          </a:p>
        </p:txBody>
      </p:sp>
      <p:sp>
        <p:nvSpPr>
          <p:cNvPr id="15" name="Freeform 15" descr="preencoded.png"/>
          <p:cNvSpPr/>
          <p:nvPr/>
        </p:nvSpPr>
        <p:spPr>
          <a:xfrm>
            <a:off x="7856182" y="4873466"/>
            <a:ext cx="598446" cy="598456"/>
          </a:xfrm>
          <a:custGeom>
            <a:avLst/>
            <a:gdLst/>
            <a:ahLst/>
            <a:cxnLst/>
            <a:rect l="l" t="t" r="r" b="b"/>
            <a:pathLst>
              <a:path w="598446" h="598456">
                <a:moveTo>
                  <a:pt x="0" y="0"/>
                </a:moveTo>
                <a:lnTo>
                  <a:pt x="598446" y="0"/>
                </a:lnTo>
                <a:lnTo>
                  <a:pt x="598446" y="598456"/>
                </a:lnTo>
                <a:lnTo>
                  <a:pt x="0" y="598456"/>
                </a:lnTo>
                <a:lnTo>
                  <a:pt x="0" y="0"/>
                </a:lnTo>
                <a:close/>
              </a:path>
            </a:pathLst>
          </a:custGeom>
          <a:blipFill>
            <a:blip>
              <a:extLst>
                <a:ext uri="{96DAC541-7B7A-43D3-8B79-37D633B846F1}">
                  <asvg:svgBlip xmlns:asvg="http://schemas.microsoft.com/office/drawing/2016/SVG/main" r:embed="rId6"/>
                </a:ext>
              </a:extLst>
            </a:blip>
            <a:stretch>
              <a:fillRect t="-1585" b="-1586"/>
            </a:stretch>
          </a:blipFill>
        </p:spPr>
      </p:sp>
      <p:sp>
        <p:nvSpPr>
          <p:cNvPr id="16" name="TextBox 16"/>
          <p:cNvSpPr txBox="1"/>
          <p:nvPr/>
        </p:nvSpPr>
        <p:spPr>
          <a:xfrm>
            <a:off x="7856182" y="5695807"/>
            <a:ext cx="9452677" cy="439960"/>
          </a:xfrm>
          <a:prstGeom prst="rect">
            <a:avLst/>
          </a:prstGeom>
        </p:spPr>
        <p:txBody>
          <a:bodyPr lIns="0" tIns="0" rIns="0" bIns="0" rtlCol="0" anchor="t">
            <a:spAutoFit/>
          </a:bodyPr>
          <a:lstStyle/>
          <a:p>
            <a:pPr algn="l">
              <a:lnSpc>
                <a:spcPts val="3184"/>
              </a:lnSpc>
            </a:pPr>
            <a:r>
              <a:rPr lang="en-US" sz="2551" b="1" spc="-52">
                <a:solidFill>
                  <a:srgbClr val="272525"/>
                </a:solidFill>
                <a:latin typeface="Petrona Bold"/>
                <a:ea typeface="Petrona Bold"/>
                <a:cs typeface="Petrona Bold"/>
                <a:sym typeface="Petrona Bold"/>
              </a:rPr>
              <a:t>Gradient‑Boosted Trees (XGBoost / LightGBM)</a:t>
            </a:r>
          </a:p>
        </p:txBody>
      </p:sp>
      <p:sp>
        <p:nvSpPr>
          <p:cNvPr id="17" name="TextBox 17"/>
          <p:cNvSpPr txBox="1"/>
          <p:nvPr/>
        </p:nvSpPr>
        <p:spPr>
          <a:xfrm>
            <a:off x="7856182" y="6209233"/>
            <a:ext cx="9452677" cy="753618"/>
          </a:xfrm>
          <a:prstGeom prst="rect">
            <a:avLst/>
          </a:prstGeom>
        </p:spPr>
        <p:txBody>
          <a:bodyPr lIns="0" tIns="0" rIns="0" bIns="0" rtlCol="0" anchor="t">
            <a:spAutoFit/>
          </a:bodyPr>
          <a:lstStyle/>
          <a:p>
            <a:pPr algn="l">
              <a:lnSpc>
                <a:spcPts val="2769"/>
              </a:lnSpc>
            </a:pPr>
            <a:r>
              <a:rPr lang="en-US" sz="1876" spc="-37">
                <a:solidFill>
                  <a:srgbClr val="272525"/>
                </a:solidFill>
                <a:latin typeface="Inter"/>
                <a:ea typeface="Inter"/>
                <a:cs typeface="Inter"/>
                <a:sym typeface="Inter"/>
              </a:rPr>
              <a:t>Boosting approach adding weak learners sequentially. Tuned parameters: learning_rate, n_estimators, max_depth, subsample, colsample_bytree, regularization.</a:t>
            </a:r>
          </a:p>
        </p:txBody>
      </p:sp>
      <p:sp>
        <p:nvSpPr>
          <p:cNvPr id="18" name="Freeform 18" descr="preencoded.png"/>
          <p:cNvSpPr/>
          <p:nvPr/>
        </p:nvSpPr>
        <p:spPr>
          <a:xfrm>
            <a:off x="7856182" y="7366797"/>
            <a:ext cx="598446" cy="598456"/>
          </a:xfrm>
          <a:custGeom>
            <a:avLst/>
            <a:gdLst/>
            <a:ahLst/>
            <a:cxnLst/>
            <a:rect l="l" t="t" r="r" b="b"/>
            <a:pathLst>
              <a:path w="598446" h="598456">
                <a:moveTo>
                  <a:pt x="0" y="0"/>
                </a:moveTo>
                <a:lnTo>
                  <a:pt x="598446" y="0"/>
                </a:lnTo>
                <a:lnTo>
                  <a:pt x="598446" y="598456"/>
                </a:lnTo>
                <a:lnTo>
                  <a:pt x="0" y="598456"/>
                </a:lnTo>
                <a:lnTo>
                  <a:pt x="0" y="0"/>
                </a:lnTo>
                <a:close/>
              </a:path>
            </a:pathLst>
          </a:custGeom>
          <a:blipFill>
            <a:blip>
              <a:extLst>
                <a:ext uri="{96DAC541-7B7A-43D3-8B79-37D633B846F1}">
                  <asvg:svgBlip xmlns:asvg="http://schemas.microsoft.com/office/drawing/2016/SVG/main" r:embed="rId7"/>
                </a:ext>
              </a:extLst>
            </a:blip>
            <a:stretch>
              <a:fillRect t="-19839" b="-19840"/>
            </a:stretch>
          </a:blipFill>
        </p:spPr>
      </p:sp>
      <p:sp>
        <p:nvSpPr>
          <p:cNvPr id="19" name="TextBox 19"/>
          <p:cNvSpPr txBox="1"/>
          <p:nvPr/>
        </p:nvSpPr>
        <p:spPr>
          <a:xfrm>
            <a:off x="7856182" y="8189138"/>
            <a:ext cx="9452677" cy="439960"/>
          </a:xfrm>
          <a:prstGeom prst="rect">
            <a:avLst/>
          </a:prstGeom>
        </p:spPr>
        <p:txBody>
          <a:bodyPr lIns="0" tIns="0" rIns="0" bIns="0" rtlCol="0" anchor="t">
            <a:spAutoFit/>
          </a:bodyPr>
          <a:lstStyle/>
          <a:p>
            <a:pPr algn="l">
              <a:lnSpc>
                <a:spcPts val="3184"/>
              </a:lnSpc>
            </a:pPr>
            <a:r>
              <a:rPr lang="en-US" sz="2551" b="1" spc="-52">
                <a:solidFill>
                  <a:srgbClr val="272525"/>
                </a:solidFill>
                <a:latin typeface="Petrona Bold"/>
                <a:ea typeface="Petrona Bold"/>
                <a:cs typeface="Petrona Bold"/>
                <a:sym typeface="Petrona Bold"/>
              </a:rPr>
              <a:t>Evaluation &amp; Validation</a:t>
            </a:r>
          </a:p>
        </p:txBody>
      </p:sp>
      <p:sp>
        <p:nvSpPr>
          <p:cNvPr id="20" name="TextBox 20"/>
          <p:cNvSpPr txBox="1"/>
          <p:nvPr/>
        </p:nvSpPr>
        <p:spPr>
          <a:xfrm>
            <a:off x="7856182" y="8702564"/>
            <a:ext cx="9452677" cy="753618"/>
          </a:xfrm>
          <a:prstGeom prst="rect">
            <a:avLst/>
          </a:prstGeom>
        </p:spPr>
        <p:txBody>
          <a:bodyPr lIns="0" tIns="0" rIns="0" bIns="0" rtlCol="0" anchor="t">
            <a:spAutoFit/>
          </a:bodyPr>
          <a:lstStyle/>
          <a:p>
            <a:pPr algn="l">
              <a:lnSpc>
                <a:spcPts val="2769"/>
              </a:lnSpc>
            </a:pPr>
            <a:r>
              <a:rPr lang="en-US" sz="1876" spc="-37">
                <a:solidFill>
                  <a:srgbClr val="272525"/>
                </a:solidFill>
                <a:latin typeface="Inter"/>
                <a:ea typeface="Inter"/>
                <a:cs typeface="Inter"/>
                <a:sym typeface="Inter"/>
              </a:rPr>
              <a:t>Stratified k‑fold cross‑validation (k=5), class imbalance handled with class weights or SMOTE. Model selection via ROC‑AUC and F1 for imbalanced outcomes.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sp>
      </p:grpSp>
      <p:grpSp>
        <p:nvGrpSpPr>
          <p:cNvPr id="6" name="Group 6"/>
          <p:cNvGrpSpPr/>
          <p:nvPr/>
        </p:nvGrpSpPr>
        <p:grpSpPr>
          <a:xfrm>
            <a:off x="992991" y="2929442"/>
            <a:ext cx="7828026" cy="4435869"/>
            <a:chOff x="0" y="0"/>
            <a:chExt cx="10437368" cy="5914492"/>
          </a:xfrm>
        </p:grpSpPr>
        <p:sp>
          <p:nvSpPr>
            <p:cNvPr id="7" name="Freeform 7" descr="preencoded.png"/>
            <p:cNvSpPr/>
            <p:nvPr/>
          </p:nvSpPr>
          <p:spPr>
            <a:xfrm>
              <a:off x="0" y="0"/>
              <a:ext cx="10437368" cy="5914517"/>
            </a:xfrm>
            <a:custGeom>
              <a:avLst/>
              <a:gdLst/>
              <a:ahLst/>
              <a:cxnLst/>
              <a:rect l="l" t="t" r="r" b="b"/>
              <a:pathLst>
                <a:path w="10437368" h="5914517">
                  <a:moveTo>
                    <a:pt x="0" y="0"/>
                  </a:moveTo>
                  <a:lnTo>
                    <a:pt x="10437368" y="0"/>
                  </a:lnTo>
                  <a:lnTo>
                    <a:pt x="10437368" y="5914517"/>
                  </a:lnTo>
                  <a:lnTo>
                    <a:pt x="0" y="5914517"/>
                  </a:lnTo>
                  <a:lnTo>
                    <a:pt x="0" y="0"/>
                  </a:lnTo>
                  <a:close/>
                </a:path>
              </a:pathLst>
            </a:custGeom>
            <a:blipFill>
              <a:blip r:embed="rId3"/>
              <a:stretch>
                <a:fillRect t="-21" b="-21"/>
              </a:stretch>
            </a:blipFill>
          </p:spPr>
        </p:sp>
      </p:grpSp>
      <p:sp>
        <p:nvSpPr>
          <p:cNvPr id="8" name="TextBox 8"/>
          <p:cNvSpPr txBox="1"/>
          <p:nvPr/>
        </p:nvSpPr>
        <p:spPr>
          <a:xfrm>
            <a:off x="9490358" y="1105348"/>
            <a:ext cx="7828026" cy="781783"/>
          </a:xfrm>
          <a:prstGeom prst="rect">
            <a:avLst/>
          </a:prstGeom>
        </p:spPr>
        <p:txBody>
          <a:bodyPr lIns="0" tIns="0" rIns="0" bIns="0" rtlCol="0" anchor="t">
            <a:spAutoFit/>
          </a:bodyPr>
          <a:lstStyle/>
          <a:p>
            <a:pPr algn="l">
              <a:lnSpc>
                <a:spcPts val="5807"/>
              </a:lnSpc>
            </a:pPr>
            <a:r>
              <a:rPr lang="en-US" sz="4653" b="1" spc="-93">
                <a:solidFill>
                  <a:srgbClr val="F95F88"/>
                </a:solidFill>
                <a:latin typeface="Petrona Bold"/>
                <a:ea typeface="Petrona Bold"/>
                <a:cs typeface="Petrona Bold"/>
                <a:sym typeface="Petrona Bold"/>
              </a:rPr>
              <a:t>Evaluation Metrics</a:t>
            </a:r>
          </a:p>
        </p:txBody>
      </p:sp>
      <p:sp>
        <p:nvSpPr>
          <p:cNvPr id="9" name="TextBox 9"/>
          <p:cNvSpPr txBox="1"/>
          <p:nvPr/>
        </p:nvSpPr>
        <p:spPr>
          <a:xfrm>
            <a:off x="9490358" y="2078126"/>
            <a:ext cx="8743121" cy="489233"/>
          </a:xfrm>
          <a:prstGeom prst="rect">
            <a:avLst/>
          </a:prstGeom>
        </p:spPr>
        <p:txBody>
          <a:bodyPr lIns="0" tIns="0" rIns="0" bIns="0" rtlCol="0" anchor="t">
            <a:spAutoFit/>
          </a:bodyPr>
          <a:lstStyle/>
          <a:p>
            <a:pPr algn="l">
              <a:lnSpc>
                <a:spcPts val="3278"/>
              </a:lnSpc>
            </a:pPr>
            <a:r>
              <a:rPr lang="en-US" sz="2101" spc="-42">
                <a:solidFill>
                  <a:srgbClr val="272525"/>
                </a:solidFill>
                <a:latin typeface="Inter"/>
                <a:ea typeface="Inter"/>
                <a:cs typeface="Inter"/>
                <a:sym typeface="Inter"/>
              </a:rPr>
              <a:t>Primary metrics selected to reflect imbalanced classification:</a:t>
            </a:r>
          </a:p>
        </p:txBody>
      </p:sp>
      <p:sp>
        <p:nvSpPr>
          <p:cNvPr id="10" name="TextBox 10"/>
          <p:cNvSpPr txBox="1"/>
          <p:nvPr/>
        </p:nvSpPr>
        <p:spPr>
          <a:xfrm>
            <a:off x="9490358" y="2804646"/>
            <a:ext cx="7828026" cy="4580611"/>
          </a:xfrm>
          <a:prstGeom prst="rect">
            <a:avLst/>
          </a:prstGeom>
        </p:spPr>
        <p:txBody>
          <a:bodyPr lIns="0" tIns="0" rIns="0" bIns="0" rtlCol="0" anchor="t">
            <a:spAutoFit/>
          </a:bodyPr>
          <a:lstStyle/>
          <a:p>
            <a:pPr marL="380641" lvl="1" indent="-190321" algn="l">
              <a:lnSpc>
                <a:spcPts val="3278"/>
              </a:lnSpc>
              <a:buFont typeface="Arial"/>
              <a:buChar char="•"/>
            </a:pPr>
            <a:r>
              <a:rPr lang="en-US" sz="2101" b="1" spc="-42">
                <a:solidFill>
                  <a:srgbClr val="272525"/>
                </a:solidFill>
                <a:latin typeface="Inter Bold"/>
                <a:ea typeface="Inter Bold"/>
                <a:cs typeface="Inter Bold"/>
                <a:sym typeface="Inter Bold"/>
              </a:rPr>
              <a:t>Accuracy</a:t>
            </a:r>
            <a:r>
              <a:rPr lang="en-US" sz="2101" spc="-42">
                <a:solidFill>
                  <a:srgbClr val="272525"/>
                </a:solidFill>
                <a:latin typeface="Inter"/>
                <a:ea typeface="Inter"/>
                <a:cs typeface="Inter"/>
                <a:sym typeface="Inter"/>
              </a:rPr>
              <a:t> — overall correctness (useful when classes balanced).</a:t>
            </a:r>
          </a:p>
          <a:p>
            <a:pPr marL="380641" lvl="1" indent="-190321" algn="l">
              <a:lnSpc>
                <a:spcPts val="3278"/>
              </a:lnSpc>
              <a:buFont typeface="Arial"/>
              <a:buChar char="•"/>
            </a:pPr>
            <a:r>
              <a:rPr lang="en-US" sz="2101" b="1" spc="-42">
                <a:solidFill>
                  <a:srgbClr val="272525"/>
                </a:solidFill>
                <a:latin typeface="Inter Bold"/>
                <a:ea typeface="Inter Bold"/>
                <a:cs typeface="Inter Bold"/>
                <a:sym typeface="Inter Bold"/>
              </a:rPr>
              <a:t>Precision</a:t>
            </a:r>
            <a:r>
              <a:rPr lang="en-US" sz="2101" spc="-42">
                <a:solidFill>
                  <a:srgbClr val="272525"/>
                </a:solidFill>
                <a:latin typeface="Inter"/>
                <a:ea typeface="Inter"/>
                <a:cs typeface="Inter"/>
                <a:sym typeface="Inter"/>
              </a:rPr>
              <a:t> — fraction of predicted defaults that are true defaults (controls false alarms).</a:t>
            </a:r>
          </a:p>
          <a:p>
            <a:pPr marL="380641" lvl="1" indent="-190321" algn="l">
              <a:lnSpc>
                <a:spcPts val="3278"/>
              </a:lnSpc>
              <a:buFont typeface="Arial"/>
              <a:buChar char="•"/>
            </a:pPr>
            <a:r>
              <a:rPr lang="en-US" sz="2101" b="1" spc="-42">
                <a:solidFill>
                  <a:srgbClr val="272525"/>
                </a:solidFill>
                <a:latin typeface="Inter Bold"/>
                <a:ea typeface="Inter Bold"/>
                <a:cs typeface="Inter Bold"/>
                <a:sym typeface="Inter Bold"/>
              </a:rPr>
              <a:t>Recall (Sensitivity)</a:t>
            </a:r>
            <a:r>
              <a:rPr lang="en-US" sz="2101" spc="-42">
                <a:solidFill>
                  <a:srgbClr val="272525"/>
                </a:solidFill>
                <a:latin typeface="Inter"/>
                <a:ea typeface="Inter"/>
                <a:cs typeface="Inter"/>
                <a:sym typeface="Inter"/>
              </a:rPr>
              <a:t> — fraction of true defaults detected (controls missed risky loans).</a:t>
            </a:r>
          </a:p>
          <a:p>
            <a:pPr marL="380641" lvl="1" indent="-190321" algn="l">
              <a:lnSpc>
                <a:spcPts val="3278"/>
              </a:lnSpc>
              <a:buFont typeface="Arial"/>
              <a:buChar char="•"/>
            </a:pPr>
            <a:r>
              <a:rPr lang="en-US" sz="2101" b="1" spc="-42">
                <a:solidFill>
                  <a:srgbClr val="272525"/>
                </a:solidFill>
                <a:latin typeface="Inter Bold"/>
                <a:ea typeface="Inter Bold"/>
                <a:cs typeface="Inter Bold"/>
                <a:sym typeface="Inter Bold"/>
              </a:rPr>
              <a:t>F1‑Score</a:t>
            </a:r>
            <a:r>
              <a:rPr lang="en-US" sz="2101" spc="-42">
                <a:solidFill>
                  <a:srgbClr val="272525"/>
                </a:solidFill>
                <a:latin typeface="Inter"/>
                <a:ea typeface="Inter"/>
                <a:cs typeface="Inter"/>
                <a:sym typeface="Inter"/>
              </a:rPr>
              <a:t> — harmonic mean of precision and recall (balanced measure for imbalanced sets).</a:t>
            </a:r>
          </a:p>
          <a:p>
            <a:pPr marL="380641" lvl="1" indent="-190321" algn="l">
              <a:lnSpc>
                <a:spcPts val="3278"/>
              </a:lnSpc>
              <a:buFont typeface="Arial"/>
              <a:buChar char="•"/>
            </a:pPr>
            <a:r>
              <a:rPr lang="en-US" sz="2101" b="1" spc="-42">
                <a:solidFill>
                  <a:srgbClr val="272525"/>
                </a:solidFill>
                <a:latin typeface="Inter Bold"/>
                <a:ea typeface="Inter Bold"/>
                <a:cs typeface="Inter Bold"/>
                <a:sym typeface="Inter Bold"/>
              </a:rPr>
              <a:t>ROC‑AUC</a:t>
            </a:r>
            <a:r>
              <a:rPr lang="en-US" sz="2101" spc="-42">
                <a:solidFill>
                  <a:srgbClr val="272525"/>
                </a:solidFill>
                <a:latin typeface="Inter"/>
                <a:ea typeface="Inter"/>
                <a:cs typeface="Inter"/>
                <a:sym typeface="Inter"/>
              </a:rPr>
              <a:t> — ranking ability across thresholds; preferred for model comparison.</a:t>
            </a:r>
          </a:p>
        </p:txBody>
      </p:sp>
      <p:grpSp>
        <p:nvGrpSpPr>
          <p:cNvPr id="11" name="Group 11"/>
          <p:cNvGrpSpPr/>
          <p:nvPr/>
        </p:nvGrpSpPr>
        <p:grpSpPr>
          <a:xfrm>
            <a:off x="9490358" y="7675255"/>
            <a:ext cx="7828026" cy="1443866"/>
            <a:chOff x="0" y="0"/>
            <a:chExt cx="10437368" cy="1925155"/>
          </a:xfrm>
        </p:grpSpPr>
        <p:sp>
          <p:nvSpPr>
            <p:cNvPr id="12" name="Freeform 12"/>
            <p:cNvSpPr/>
            <p:nvPr/>
          </p:nvSpPr>
          <p:spPr>
            <a:xfrm>
              <a:off x="0" y="0"/>
              <a:ext cx="10437368" cy="1925193"/>
            </a:xfrm>
            <a:custGeom>
              <a:avLst/>
              <a:gdLst/>
              <a:ahLst/>
              <a:cxnLst/>
              <a:rect l="l" t="t" r="r" b="b"/>
              <a:pathLst>
                <a:path w="10437368" h="1925193">
                  <a:moveTo>
                    <a:pt x="0" y="151511"/>
                  </a:moveTo>
                  <a:cubicBezTo>
                    <a:pt x="0" y="67818"/>
                    <a:pt x="67818" y="0"/>
                    <a:pt x="151511" y="0"/>
                  </a:cubicBezTo>
                  <a:lnTo>
                    <a:pt x="10285857" y="0"/>
                  </a:lnTo>
                  <a:cubicBezTo>
                    <a:pt x="10369550" y="0"/>
                    <a:pt x="10437368" y="67818"/>
                    <a:pt x="10437368" y="151511"/>
                  </a:cubicBezTo>
                  <a:lnTo>
                    <a:pt x="10437368" y="1773682"/>
                  </a:lnTo>
                  <a:cubicBezTo>
                    <a:pt x="10437368" y="1857375"/>
                    <a:pt x="10369550" y="1925193"/>
                    <a:pt x="10285857" y="1925193"/>
                  </a:cubicBezTo>
                  <a:lnTo>
                    <a:pt x="151511" y="1925193"/>
                  </a:lnTo>
                  <a:cubicBezTo>
                    <a:pt x="67818" y="1925193"/>
                    <a:pt x="0" y="1857375"/>
                    <a:pt x="0" y="1773682"/>
                  </a:cubicBezTo>
                  <a:close/>
                </a:path>
              </a:pathLst>
            </a:custGeom>
            <a:solidFill>
              <a:srgbClr val="E0D7F4"/>
            </a:solidFill>
          </p:spPr>
        </p:sp>
      </p:grpSp>
      <p:grpSp>
        <p:nvGrpSpPr>
          <p:cNvPr id="13" name="Group 13"/>
          <p:cNvGrpSpPr/>
          <p:nvPr/>
        </p:nvGrpSpPr>
        <p:grpSpPr>
          <a:xfrm>
            <a:off x="9760687" y="8068770"/>
            <a:ext cx="337947" cy="270339"/>
            <a:chOff x="0" y="0"/>
            <a:chExt cx="450596" cy="360451"/>
          </a:xfrm>
        </p:grpSpPr>
        <p:sp>
          <p:nvSpPr>
            <p:cNvPr id="14" name="Freeform 14" descr="preencoded.png"/>
            <p:cNvSpPr/>
            <p:nvPr/>
          </p:nvSpPr>
          <p:spPr>
            <a:xfrm>
              <a:off x="0" y="0"/>
              <a:ext cx="450596" cy="360426"/>
            </a:xfrm>
            <a:custGeom>
              <a:avLst/>
              <a:gdLst/>
              <a:ahLst/>
              <a:cxnLst/>
              <a:rect l="l" t="t" r="r" b="b"/>
              <a:pathLst>
                <a:path w="450596" h="360426">
                  <a:moveTo>
                    <a:pt x="0" y="0"/>
                  </a:moveTo>
                  <a:lnTo>
                    <a:pt x="450596" y="0"/>
                  </a:lnTo>
                  <a:lnTo>
                    <a:pt x="450596" y="360426"/>
                  </a:lnTo>
                  <a:lnTo>
                    <a:pt x="0" y="360426"/>
                  </a:lnTo>
                  <a:lnTo>
                    <a:pt x="0" y="0"/>
                  </a:lnTo>
                  <a:close/>
                </a:path>
              </a:pathLst>
            </a:custGeom>
            <a:blipFill>
              <a:blip r:embed="rId4"/>
              <a:stretch>
                <a:fillRect t="-352" b="-355"/>
              </a:stretch>
            </a:blipFill>
          </p:spPr>
        </p:sp>
      </p:grpSp>
      <p:sp>
        <p:nvSpPr>
          <p:cNvPr id="15" name="TextBox 15"/>
          <p:cNvSpPr txBox="1"/>
          <p:nvPr/>
        </p:nvSpPr>
        <p:spPr>
          <a:xfrm>
            <a:off x="10368953" y="7907960"/>
            <a:ext cx="6679101" cy="911790"/>
          </a:xfrm>
          <a:prstGeom prst="rect">
            <a:avLst/>
          </a:prstGeom>
        </p:spPr>
        <p:txBody>
          <a:bodyPr lIns="0" tIns="0" rIns="0" bIns="0" rtlCol="0" anchor="t">
            <a:spAutoFit/>
          </a:bodyPr>
          <a:lstStyle/>
          <a:p>
            <a:pPr algn="l">
              <a:lnSpc>
                <a:spcPts val="3278"/>
              </a:lnSpc>
            </a:pPr>
            <a:r>
              <a:rPr lang="en-US" sz="2101" spc="-42">
                <a:solidFill>
                  <a:srgbClr val="000000"/>
                </a:solidFill>
                <a:latin typeface="Inter"/>
                <a:ea typeface="Inter"/>
                <a:cs typeface="Inter"/>
                <a:sym typeface="Inter"/>
              </a:rPr>
              <a:t>Use confusion matrix and threshold analysis to translate model outputs into operational lending rules.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sp>
      </p:grpSp>
      <p:grpSp>
        <p:nvGrpSpPr>
          <p:cNvPr id="6" name="Group 6"/>
          <p:cNvGrpSpPr/>
          <p:nvPr/>
        </p:nvGrpSpPr>
        <p:grpSpPr>
          <a:xfrm>
            <a:off x="16628307" y="9846183"/>
            <a:ext cx="1609020" cy="384353"/>
            <a:chOff x="0" y="0"/>
            <a:chExt cx="2145360" cy="512470"/>
          </a:xfrm>
        </p:grpSpPr>
        <p:sp>
          <p:nvSpPr>
            <p:cNvPr id="7" name="Freeform 7" descr="preencoded.png">
              <a:hlinkClick r:id="rId3" tooltip="https://gamma.app/?utm_source=made-with-gamma"/>
            </p:cNvPr>
            <p:cNvSpPr/>
            <p:nvPr/>
          </p:nvSpPr>
          <p:spPr>
            <a:xfrm>
              <a:off x="0" y="0"/>
              <a:ext cx="2145411" cy="512445"/>
            </a:xfrm>
            <a:custGeom>
              <a:avLst/>
              <a:gdLst/>
              <a:ahLst/>
              <a:cxnLst/>
              <a:rect l="l" t="t" r="r" b="b"/>
              <a:pathLst>
                <a:path w="2145411" h="512445">
                  <a:moveTo>
                    <a:pt x="0" y="0"/>
                  </a:moveTo>
                  <a:lnTo>
                    <a:pt x="2145411" y="0"/>
                  </a:lnTo>
                  <a:lnTo>
                    <a:pt x="2145411" y="512445"/>
                  </a:lnTo>
                  <a:lnTo>
                    <a:pt x="0" y="512445"/>
                  </a:lnTo>
                  <a:lnTo>
                    <a:pt x="0" y="0"/>
                  </a:lnTo>
                  <a:close/>
                </a:path>
              </a:pathLst>
            </a:custGeom>
            <a:blipFill>
              <a:blip r:embed="rId4"/>
              <a:stretch>
                <a:fillRect r="2" b="-4"/>
              </a:stretch>
            </a:blipFill>
          </p:spPr>
        </p:sp>
      </p:grpSp>
      <p:grpSp>
        <p:nvGrpSpPr>
          <p:cNvPr id="8" name="Group 8"/>
          <p:cNvGrpSpPr/>
          <p:nvPr/>
        </p:nvGrpSpPr>
        <p:grpSpPr>
          <a:xfrm>
            <a:off x="11438649" y="0"/>
            <a:ext cx="6863191" cy="10295039"/>
            <a:chOff x="0" y="0"/>
            <a:chExt cx="9150922" cy="13726719"/>
          </a:xfrm>
        </p:grpSpPr>
        <p:sp>
          <p:nvSpPr>
            <p:cNvPr id="9" name="Freeform 9" descr="preencoded.png"/>
            <p:cNvSpPr/>
            <p:nvPr/>
          </p:nvSpPr>
          <p:spPr>
            <a:xfrm>
              <a:off x="0" y="0"/>
              <a:ext cx="9150858" cy="13726668"/>
            </a:xfrm>
            <a:custGeom>
              <a:avLst/>
              <a:gdLst/>
              <a:ahLst/>
              <a:cxnLst/>
              <a:rect l="l" t="t" r="r" b="b"/>
              <a:pathLst>
                <a:path w="9150858" h="13726668">
                  <a:moveTo>
                    <a:pt x="0" y="0"/>
                  </a:moveTo>
                  <a:lnTo>
                    <a:pt x="9150858" y="0"/>
                  </a:lnTo>
                  <a:lnTo>
                    <a:pt x="9150858" y="13726668"/>
                  </a:lnTo>
                  <a:lnTo>
                    <a:pt x="0" y="13726668"/>
                  </a:lnTo>
                  <a:lnTo>
                    <a:pt x="0" y="0"/>
                  </a:lnTo>
                  <a:close/>
                </a:path>
              </a:pathLst>
            </a:custGeom>
            <a:blipFill>
              <a:blip r:embed="rId5"/>
              <a:stretch>
                <a:fillRect l="-1" r="-1"/>
              </a:stretch>
            </a:blipFill>
          </p:spPr>
        </p:sp>
      </p:grpSp>
      <p:grpSp>
        <p:nvGrpSpPr>
          <p:cNvPr id="10" name="Group 10"/>
          <p:cNvGrpSpPr/>
          <p:nvPr/>
        </p:nvGrpSpPr>
        <p:grpSpPr>
          <a:xfrm>
            <a:off x="11580438" y="760962"/>
            <a:ext cx="6579460" cy="8772982"/>
            <a:chOff x="0" y="0"/>
            <a:chExt cx="8772614" cy="11697310"/>
          </a:xfrm>
        </p:grpSpPr>
        <p:sp>
          <p:nvSpPr>
            <p:cNvPr id="11" name="Freeform 11" descr="preencoded.png"/>
            <p:cNvSpPr/>
            <p:nvPr/>
          </p:nvSpPr>
          <p:spPr>
            <a:xfrm>
              <a:off x="0" y="0"/>
              <a:ext cx="8772652" cy="11697335"/>
            </a:xfrm>
            <a:custGeom>
              <a:avLst/>
              <a:gdLst/>
              <a:ahLst/>
              <a:cxnLst/>
              <a:rect l="l" t="t" r="r" b="b"/>
              <a:pathLst>
                <a:path w="8772652" h="11697335">
                  <a:moveTo>
                    <a:pt x="0" y="0"/>
                  </a:moveTo>
                  <a:lnTo>
                    <a:pt x="8772652" y="0"/>
                  </a:lnTo>
                  <a:lnTo>
                    <a:pt x="8772652" y="11697335"/>
                  </a:lnTo>
                  <a:lnTo>
                    <a:pt x="0" y="11697335"/>
                  </a:lnTo>
                  <a:lnTo>
                    <a:pt x="0" y="0"/>
                  </a:lnTo>
                  <a:close/>
                </a:path>
              </a:pathLst>
            </a:custGeom>
            <a:blipFill>
              <a:blip r:embed="rId6"/>
              <a:stretch>
                <a:fillRect t="-13" b="-13"/>
              </a:stretch>
            </a:blipFill>
          </p:spPr>
        </p:sp>
      </p:grpSp>
      <p:sp>
        <p:nvSpPr>
          <p:cNvPr id="12" name="TextBox 12"/>
          <p:cNvSpPr txBox="1"/>
          <p:nvPr/>
        </p:nvSpPr>
        <p:spPr>
          <a:xfrm>
            <a:off x="992991" y="2214382"/>
            <a:ext cx="9452677" cy="808749"/>
          </a:xfrm>
          <a:prstGeom prst="rect">
            <a:avLst/>
          </a:prstGeom>
        </p:spPr>
        <p:txBody>
          <a:bodyPr lIns="0" tIns="0" rIns="0" bIns="0" rtlCol="0" anchor="t">
            <a:spAutoFit/>
          </a:bodyPr>
          <a:lstStyle/>
          <a:p>
            <a:pPr algn="l">
              <a:lnSpc>
                <a:spcPts val="6088"/>
              </a:lnSpc>
            </a:pPr>
            <a:r>
              <a:rPr lang="en-US" sz="4878" b="1" spc="-97">
                <a:solidFill>
                  <a:srgbClr val="F95F88"/>
                </a:solidFill>
                <a:latin typeface="Petrona Bold"/>
                <a:ea typeface="Petrona Bold"/>
                <a:cs typeface="Petrona Bold"/>
                <a:sym typeface="Petrona Bold"/>
              </a:rPr>
              <a:t>Key Findings &amp; Feature Insights</a:t>
            </a:r>
          </a:p>
        </p:txBody>
      </p:sp>
      <p:sp>
        <p:nvSpPr>
          <p:cNvPr id="13" name="TextBox 13"/>
          <p:cNvSpPr txBox="1"/>
          <p:nvPr/>
        </p:nvSpPr>
        <p:spPr>
          <a:xfrm>
            <a:off x="992991" y="3372460"/>
            <a:ext cx="10367762" cy="530181"/>
          </a:xfrm>
          <a:prstGeom prst="rect">
            <a:avLst/>
          </a:prstGeom>
        </p:spPr>
        <p:txBody>
          <a:bodyPr lIns="0" tIns="0" rIns="0" bIns="0" rtlCol="0" anchor="t">
            <a:spAutoFit/>
          </a:bodyPr>
          <a:lstStyle/>
          <a:p>
            <a:pPr algn="l">
              <a:lnSpc>
                <a:spcPts val="3474"/>
              </a:lnSpc>
            </a:pPr>
            <a:r>
              <a:rPr lang="en-US" sz="2176" spc="-45">
                <a:solidFill>
                  <a:srgbClr val="272525"/>
                </a:solidFill>
                <a:latin typeface="Inter"/>
                <a:ea typeface="Inter"/>
                <a:cs typeface="Inter"/>
                <a:sym typeface="Inter"/>
              </a:rPr>
              <a:t>After model training and interpretation:</a:t>
            </a:r>
          </a:p>
        </p:txBody>
      </p:sp>
      <p:sp>
        <p:nvSpPr>
          <p:cNvPr id="14" name="TextBox 14"/>
          <p:cNvSpPr txBox="1"/>
          <p:nvPr/>
        </p:nvSpPr>
        <p:spPr>
          <a:xfrm>
            <a:off x="992991" y="4221242"/>
            <a:ext cx="9452677" cy="3830850"/>
          </a:xfrm>
          <a:prstGeom prst="rect">
            <a:avLst/>
          </a:prstGeom>
        </p:spPr>
        <p:txBody>
          <a:bodyPr lIns="0" tIns="0" rIns="0" bIns="0" rtlCol="0" anchor="t">
            <a:spAutoFit/>
          </a:bodyPr>
          <a:lstStyle/>
          <a:p>
            <a:pPr marL="394236" lvl="1" indent="-197118" algn="l">
              <a:lnSpc>
                <a:spcPts val="3474"/>
              </a:lnSpc>
              <a:buFont typeface="Arial"/>
              <a:buChar char="•"/>
            </a:pPr>
            <a:r>
              <a:rPr lang="en-US" sz="2176" spc="-45">
                <a:solidFill>
                  <a:srgbClr val="272525"/>
                </a:solidFill>
                <a:latin typeface="Inter"/>
                <a:ea typeface="Inter"/>
                <a:cs typeface="Inter"/>
                <a:sym typeface="Inter"/>
              </a:rPr>
              <a:t>Top predictive features typically: credit history, debt‑to‑income ratio, loan amount relative to income, employment tenure, number of previous delinquencies.</a:t>
            </a:r>
          </a:p>
          <a:p>
            <a:pPr marL="394236" lvl="1" indent="-197118" algn="l">
              <a:lnSpc>
                <a:spcPts val="3474"/>
              </a:lnSpc>
              <a:buFont typeface="Arial"/>
              <a:buChar char="•"/>
            </a:pPr>
            <a:r>
              <a:rPr lang="en-US" sz="2176" spc="-45">
                <a:solidFill>
                  <a:srgbClr val="272525"/>
                </a:solidFill>
                <a:latin typeface="Inter"/>
                <a:ea typeface="Inter"/>
                <a:cs typeface="Inter"/>
                <a:sym typeface="Inter"/>
              </a:rPr>
              <a:t>Tree‑based models provide feature importance and SHAP analysis to explain individual predictions — crucial for regulatory transparency.</a:t>
            </a:r>
          </a:p>
          <a:p>
            <a:pPr marL="394236" lvl="1" indent="-197118" algn="l">
              <a:lnSpc>
                <a:spcPts val="3474"/>
              </a:lnSpc>
              <a:buFont typeface="Arial"/>
              <a:buChar char="•"/>
            </a:pPr>
            <a:r>
              <a:rPr lang="en-US" sz="2176" spc="-45">
                <a:solidFill>
                  <a:srgbClr val="272525"/>
                </a:solidFill>
                <a:latin typeface="Inter"/>
                <a:ea typeface="Inter"/>
                <a:cs typeface="Inter"/>
                <a:sym typeface="Inter"/>
              </a:rPr>
              <a:t>Gradient boosting often achieves higher ROC‑AUC and better calibration, while Random Forest offers robust baseline performance with simpler tuning.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sp>
      </p:grpSp>
      <p:grpSp>
        <p:nvGrpSpPr>
          <p:cNvPr id="4" name="Group 4"/>
          <p:cNvGrpSpPr/>
          <p:nvPr/>
        </p:nvGrpSpPr>
        <p:grpSpPr>
          <a:xfrm>
            <a:off x="12700" y="-20701"/>
            <a:ext cx="18301811" cy="10295001"/>
            <a:chOff x="52320" y="33917"/>
            <a:chExt cx="24402414" cy="13726668"/>
          </a:xfrm>
        </p:grpSpPr>
        <p:sp>
          <p:nvSpPr>
            <p:cNvPr id="5" name="Freeform 5"/>
            <p:cNvSpPr/>
            <p:nvPr/>
          </p:nvSpPr>
          <p:spPr>
            <a:xfrm>
              <a:off x="52320" y="33917"/>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sp>
      </p:grpSp>
      <p:grpSp>
        <p:nvGrpSpPr>
          <p:cNvPr id="6" name="Group 6"/>
          <p:cNvGrpSpPr/>
          <p:nvPr/>
        </p:nvGrpSpPr>
        <p:grpSpPr>
          <a:xfrm>
            <a:off x="992991" y="3175054"/>
            <a:ext cx="6961346" cy="3944798"/>
            <a:chOff x="0" y="0"/>
            <a:chExt cx="9281795" cy="5259730"/>
          </a:xfrm>
        </p:grpSpPr>
        <p:sp>
          <p:nvSpPr>
            <p:cNvPr id="7" name="Freeform 7" descr="preencoded.png"/>
            <p:cNvSpPr/>
            <p:nvPr/>
          </p:nvSpPr>
          <p:spPr>
            <a:xfrm>
              <a:off x="0" y="0"/>
              <a:ext cx="9281795" cy="5259705"/>
            </a:xfrm>
            <a:custGeom>
              <a:avLst/>
              <a:gdLst/>
              <a:ahLst/>
              <a:cxnLst/>
              <a:rect l="l" t="t" r="r" b="b"/>
              <a:pathLst>
                <a:path w="9281795" h="5259705">
                  <a:moveTo>
                    <a:pt x="0" y="0"/>
                  </a:moveTo>
                  <a:lnTo>
                    <a:pt x="9281795" y="0"/>
                  </a:lnTo>
                  <a:lnTo>
                    <a:pt x="9281795" y="5259705"/>
                  </a:lnTo>
                  <a:lnTo>
                    <a:pt x="0" y="5259705"/>
                  </a:lnTo>
                  <a:lnTo>
                    <a:pt x="0" y="0"/>
                  </a:lnTo>
                  <a:close/>
                </a:path>
              </a:pathLst>
            </a:custGeom>
            <a:blipFill>
              <a:blip r:embed="rId3"/>
              <a:stretch>
                <a:fillRect l="-28" r="-28"/>
              </a:stretch>
            </a:blipFill>
          </p:spPr>
        </p:sp>
      </p:grpSp>
      <p:sp>
        <p:nvSpPr>
          <p:cNvPr id="8" name="TextBox 8"/>
          <p:cNvSpPr txBox="1"/>
          <p:nvPr/>
        </p:nvSpPr>
        <p:spPr>
          <a:xfrm>
            <a:off x="8656139" y="1764125"/>
            <a:ext cx="8662102" cy="1588922"/>
          </a:xfrm>
          <a:prstGeom prst="rect">
            <a:avLst/>
          </a:prstGeom>
        </p:spPr>
        <p:txBody>
          <a:bodyPr lIns="0" tIns="0" rIns="0" bIns="0" rtlCol="0" anchor="t">
            <a:spAutoFit/>
          </a:bodyPr>
          <a:lstStyle/>
          <a:p>
            <a:pPr algn="l">
              <a:lnSpc>
                <a:spcPts val="6088"/>
              </a:lnSpc>
            </a:pPr>
            <a:r>
              <a:rPr lang="en-US" sz="4878" b="1" spc="-97">
                <a:solidFill>
                  <a:srgbClr val="F95F88"/>
                </a:solidFill>
                <a:latin typeface="Petrona Bold"/>
                <a:ea typeface="Petrona Bold"/>
                <a:cs typeface="Petrona Bold"/>
                <a:sym typeface="Petrona Bold"/>
              </a:rPr>
              <a:t>Prototype: Report Signature &amp; Deployment Notes</a:t>
            </a:r>
          </a:p>
        </p:txBody>
      </p:sp>
      <p:sp>
        <p:nvSpPr>
          <p:cNvPr id="9" name="TextBox 9"/>
          <p:cNvSpPr txBox="1"/>
          <p:nvPr/>
        </p:nvSpPr>
        <p:spPr>
          <a:xfrm>
            <a:off x="8656139" y="3560578"/>
            <a:ext cx="8662102" cy="3096425"/>
          </a:xfrm>
          <a:prstGeom prst="rect">
            <a:avLst/>
          </a:prstGeom>
        </p:spPr>
        <p:txBody>
          <a:bodyPr lIns="0" tIns="0" rIns="0" bIns="0" rtlCol="0" anchor="t">
            <a:spAutoFit/>
          </a:bodyPr>
          <a:lstStyle/>
          <a:p>
            <a:pPr marL="394236" lvl="1" indent="-197118">
              <a:lnSpc>
                <a:spcPts val="3474"/>
              </a:lnSpc>
              <a:buFont typeface="Arial"/>
              <a:buChar char="•"/>
            </a:pPr>
            <a:r>
              <a:rPr lang="en-US" sz="2176" spc="-45" dirty="0">
                <a:solidFill>
                  <a:srgbClr val="272525"/>
                </a:solidFill>
                <a:latin typeface="Inter"/>
                <a:ea typeface="Inter"/>
                <a:cs typeface="Inter"/>
                <a:sym typeface="Inter"/>
              </a:rPr>
              <a:t>Expose model via Flask or </a:t>
            </a:r>
            <a:r>
              <a:rPr lang="en-US" sz="2176" spc="-45" dirty="0" err="1">
                <a:solidFill>
                  <a:srgbClr val="272525"/>
                </a:solidFill>
                <a:latin typeface="Inter"/>
                <a:ea typeface="Inter"/>
                <a:cs typeface="Inter"/>
                <a:sym typeface="Inter"/>
              </a:rPr>
              <a:t>Streamlit</a:t>
            </a:r>
            <a:r>
              <a:rPr lang="en-US" sz="2176" spc="-45" dirty="0">
                <a:solidFill>
                  <a:srgbClr val="272525"/>
                </a:solidFill>
                <a:latin typeface="Inter"/>
                <a:ea typeface="Inter"/>
                <a:cs typeface="Inter"/>
                <a:sym typeface="Inter"/>
              </a:rPr>
              <a:t> API for lending staff to score applications.</a:t>
            </a:r>
          </a:p>
          <a:p>
            <a:pPr marL="394236" lvl="1" indent="-197118">
              <a:lnSpc>
                <a:spcPts val="3474"/>
              </a:lnSpc>
              <a:buFont typeface="Arial"/>
              <a:buChar char="•"/>
            </a:pPr>
            <a:r>
              <a:rPr lang="en-US" sz="2176" spc="-45" dirty="0">
                <a:solidFill>
                  <a:srgbClr val="272525"/>
                </a:solidFill>
                <a:latin typeface="Inter"/>
                <a:ea typeface="Inter"/>
                <a:cs typeface="Inter"/>
                <a:sym typeface="Inter"/>
              </a:rPr>
              <a:t>Store predictions and explanations (SHAP) in a database (MySQL/SQLite) for audits.</a:t>
            </a:r>
          </a:p>
          <a:p>
            <a:pPr marL="394236" lvl="1" indent="-197118">
              <a:lnSpc>
                <a:spcPts val="3474"/>
              </a:lnSpc>
              <a:buFont typeface="Arial"/>
              <a:buChar char="•"/>
            </a:pPr>
            <a:r>
              <a:rPr lang="en-US" sz="2176" spc="-45" dirty="0">
                <a:solidFill>
                  <a:srgbClr val="272525"/>
                </a:solidFill>
                <a:latin typeface="Inter"/>
                <a:ea typeface="Inter"/>
                <a:cs typeface="Inter"/>
                <a:sym typeface="Inter"/>
              </a:rPr>
              <a:t>Schedule periodic retraining with rolling windows to handle concept drift.</a:t>
            </a:r>
          </a:p>
          <a:p>
            <a:pPr algn="l">
              <a:lnSpc>
                <a:spcPts val="3474"/>
              </a:lnSpc>
            </a:pPr>
            <a:endParaRPr lang="en-US" sz="2176" spc="-45" dirty="0">
              <a:solidFill>
                <a:srgbClr val="272525"/>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sp>
      </p:grpSp>
      <p:sp>
        <p:nvSpPr>
          <p:cNvPr id="6" name="TextBox 6"/>
          <p:cNvSpPr txBox="1"/>
          <p:nvPr/>
        </p:nvSpPr>
        <p:spPr>
          <a:xfrm>
            <a:off x="992991" y="986180"/>
            <a:ext cx="16315868" cy="662483"/>
          </a:xfrm>
          <a:prstGeom prst="rect">
            <a:avLst/>
          </a:prstGeom>
        </p:spPr>
        <p:txBody>
          <a:bodyPr lIns="0" tIns="0" rIns="0" bIns="0" rtlCol="0" anchor="t">
            <a:spAutoFit/>
          </a:bodyPr>
          <a:lstStyle/>
          <a:p>
            <a:pPr algn="l">
              <a:lnSpc>
                <a:spcPts val="4964"/>
              </a:lnSpc>
            </a:pPr>
            <a:r>
              <a:rPr lang="en-US" sz="3978" b="1" spc="-79">
                <a:solidFill>
                  <a:srgbClr val="F95F88"/>
                </a:solidFill>
                <a:latin typeface="Petrona Bold"/>
                <a:ea typeface="Petrona Bold"/>
                <a:cs typeface="Petrona Bold"/>
                <a:sym typeface="Petrona Bold"/>
              </a:rPr>
              <a:t>Modules, Objectives &amp; Expected Outcomes</a:t>
            </a:r>
          </a:p>
        </p:txBody>
      </p:sp>
      <p:sp>
        <p:nvSpPr>
          <p:cNvPr id="7" name="Freeform 7" descr="preencoded.png"/>
          <p:cNvSpPr/>
          <p:nvPr/>
        </p:nvSpPr>
        <p:spPr>
          <a:xfrm>
            <a:off x="992991" y="2023262"/>
            <a:ext cx="3938445" cy="4599556"/>
          </a:xfrm>
          <a:custGeom>
            <a:avLst/>
            <a:gdLst/>
            <a:ahLst/>
            <a:cxnLst/>
            <a:rect l="l" t="t" r="r" b="b"/>
            <a:pathLst>
              <a:path w="3938445" h="4599556">
                <a:moveTo>
                  <a:pt x="0" y="0"/>
                </a:moveTo>
                <a:lnTo>
                  <a:pt x="3938444" y="0"/>
                </a:lnTo>
                <a:lnTo>
                  <a:pt x="3938444" y="4599556"/>
                </a:lnTo>
                <a:lnTo>
                  <a:pt x="0" y="4599556"/>
                </a:lnTo>
                <a:lnTo>
                  <a:pt x="0" y="0"/>
                </a:lnTo>
                <a:close/>
              </a:path>
            </a:pathLst>
          </a:custGeom>
          <a:blipFill>
            <a:blip>
              <a:extLst>
                <a:ext uri="{96DAC541-7B7A-43D3-8B79-37D633B846F1}">
                  <asvg:svgBlip xmlns:asvg="http://schemas.microsoft.com/office/drawing/2016/SVG/main" r:embed="rId3"/>
                </a:ext>
              </a:extLst>
            </a:blip>
            <a:stretch>
              <a:fillRect t="-52" b="-52"/>
            </a:stretch>
          </a:blipFill>
        </p:spPr>
      </p:sp>
      <p:grpSp>
        <p:nvGrpSpPr>
          <p:cNvPr id="8" name="Group 8"/>
          <p:cNvGrpSpPr/>
          <p:nvPr/>
        </p:nvGrpSpPr>
        <p:grpSpPr>
          <a:xfrm>
            <a:off x="2823839" y="2196189"/>
            <a:ext cx="276587" cy="345700"/>
            <a:chOff x="0" y="0"/>
            <a:chExt cx="368783" cy="460934"/>
          </a:xfrm>
        </p:grpSpPr>
        <p:sp>
          <p:nvSpPr>
            <p:cNvPr id="9" name="Freeform 9"/>
            <p:cNvSpPr/>
            <p:nvPr/>
          </p:nvSpPr>
          <p:spPr>
            <a:xfrm>
              <a:off x="0" y="0"/>
              <a:ext cx="368778" cy="460934"/>
            </a:xfrm>
            <a:custGeom>
              <a:avLst/>
              <a:gdLst/>
              <a:ahLst/>
              <a:cxnLst/>
              <a:rect l="l" t="t" r="r" b="b"/>
              <a:pathLst>
                <a:path w="368778" h="460934">
                  <a:moveTo>
                    <a:pt x="0" y="0"/>
                  </a:moveTo>
                  <a:lnTo>
                    <a:pt x="368778" y="0"/>
                  </a:lnTo>
                  <a:lnTo>
                    <a:pt x="368778" y="460934"/>
                  </a:lnTo>
                  <a:lnTo>
                    <a:pt x="0" y="460934"/>
                  </a:lnTo>
                  <a:close/>
                </a:path>
              </a:pathLst>
            </a:custGeom>
            <a:blipFill>
              <a:blip r:embed="rId4">
                <a:alphaModFix amt="0"/>
              </a:blip>
              <a:stretch>
                <a:fillRect l="-110365" r="-110366"/>
              </a:stretch>
            </a:blipFill>
          </p:spPr>
        </p:sp>
        <p:sp>
          <p:nvSpPr>
            <p:cNvPr id="10" name="TextBox 10"/>
            <p:cNvSpPr txBox="1"/>
            <p:nvPr/>
          </p:nvSpPr>
          <p:spPr>
            <a:xfrm>
              <a:off x="0" y="-19050"/>
              <a:ext cx="368783" cy="479984"/>
            </a:xfrm>
            <a:prstGeom prst="rect">
              <a:avLst/>
            </a:prstGeom>
          </p:spPr>
          <p:txBody>
            <a:bodyPr lIns="0" tIns="0" rIns="0" bIns="0" rtlCol="0" anchor="ctr"/>
            <a:lstStyle/>
            <a:p>
              <a:pPr algn="ctr">
                <a:lnSpc>
                  <a:spcPts val="2612"/>
                </a:lnSpc>
              </a:pPr>
              <a:r>
                <a:rPr lang="en-US" sz="2176" b="1" spc="-36">
                  <a:solidFill>
                    <a:srgbClr val="FFFFFF"/>
                  </a:solidFill>
                  <a:latin typeface="Petrona Bold"/>
                  <a:ea typeface="Petrona Bold"/>
                  <a:cs typeface="Petrona Bold"/>
                  <a:sym typeface="Petrona Bold"/>
                </a:rPr>
                <a:t>1</a:t>
              </a:r>
            </a:p>
          </p:txBody>
        </p:sp>
      </p:grpSp>
      <p:sp>
        <p:nvSpPr>
          <p:cNvPr id="11" name="TextBox 11"/>
          <p:cNvSpPr txBox="1"/>
          <p:nvPr/>
        </p:nvSpPr>
        <p:spPr>
          <a:xfrm>
            <a:off x="1251995" y="2926175"/>
            <a:ext cx="3420428" cy="1207627"/>
          </a:xfrm>
          <a:prstGeom prst="rect">
            <a:avLst/>
          </a:prstGeom>
        </p:spPr>
        <p:txBody>
          <a:bodyPr lIns="0" tIns="0" rIns="0" bIns="0" rtlCol="0" anchor="t">
            <a:spAutoFit/>
          </a:bodyPr>
          <a:lstStyle/>
          <a:p>
            <a:pPr algn="l">
              <a:lnSpc>
                <a:spcPts val="3091"/>
              </a:lnSpc>
            </a:pPr>
            <a:r>
              <a:rPr lang="en-US" sz="2476" b="1" spc="-49">
                <a:solidFill>
                  <a:srgbClr val="272525"/>
                </a:solidFill>
                <a:latin typeface="Petrona Bold"/>
                <a:ea typeface="Petrona Bold"/>
                <a:cs typeface="Petrona Bold"/>
                <a:sym typeface="Petrona Bold"/>
              </a:rPr>
              <a:t>Module 1 — Data Acquisition &amp; Exploration</a:t>
            </a:r>
          </a:p>
        </p:txBody>
      </p:sp>
      <p:sp>
        <p:nvSpPr>
          <p:cNvPr id="12" name="TextBox 12"/>
          <p:cNvSpPr txBox="1"/>
          <p:nvPr/>
        </p:nvSpPr>
        <p:spPr>
          <a:xfrm>
            <a:off x="1251995" y="4198487"/>
            <a:ext cx="3420428" cy="2165318"/>
          </a:xfrm>
          <a:prstGeom prst="rect">
            <a:avLst/>
          </a:prstGeom>
        </p:spPr>
        <p:txBody>
          <a:bodyPr lIns="0" tIns="0" rIns="0" bIns="0" rtlCol="0" anchor="t">
            <a:spAutoFit/>
          </a:bodyPr>
          <a:lstStyle/>
          <a:p>
            <a:pPr algn="l">
              <a:lnSpc>
                <a:spcPts val="2615"/>
              </a:lnSpc>
            </a:pPr>
            <a:r>
              <a:rPr lang="en-US" sz="1801" spc="-36">
                <a:solidFill>
                  <a:srgbClr val="272525"/>
                </a:solidFill>
                <a:latin typeface="Inter"/>
                <a:ea typeface="Inter"/>
                <a:cs typeface="Inter"/>
                <a:sym typeface="Inter"/>
              </a:rPr>
              <a:t>Objective: Collect and understand data distributions, missingness, and class balance.</a:t>
            </a:r>
          </a:p>
          <a:p>
            <a:pPr algn="l">
              <a:lnSpc>
                <a:spcPts val="2615"/>
              </a:lnSpc>
            </a:pPr>
            <a:r>
              <a:rPr lang="en-US" sz="1801" spc="-36">
                <a:solidFill>
                  <a:srgbClr val="272525"/>
                </a:solidFill>
                <a:latin typeface="Inter"/>
                <a:ea typeface="Inter"/>
                <a:cs typeface="Inter"/>
                <a:sym typeface="Inter"/>
              </a:rPr>
              <a:t>Outcome: Cleaned dataset and exploratory report with visual summaries.</a:t>
            </a:r>
          </a:p>
        </p:txBody>
      </p:sp>
      <p:sp>
        <p:nvSpPr>
          <p:cNvPr id="13" name="Freeform 13" descr="preencoded.png"/>
          <p:cNvSpPr/>
          <p:nvPr/>
        </p:nvSpPr>
        <p:spPr>
          <a:xfrm>
            <a:off x="5118649" y="2023262"/>
            <a:ext cx="3938588" cy="4599556"/>
          </a:xfrm>
          <a:custGeom>
            <a:avLst/>
            <a:gdLst/>
            <a:ahLst/>
            <a:cxnLst/>
            <a:rect l="l" t="t" r="r" b="b"/>
            <a:pathLst>
              <a:path w="3938588" h="4599556">
                <a:moveTo>
                  <a:pt x="0" y="0"/>
                </a:moveTo>
                <a:lnTo>
                  <a:pt x="3938588" y="0"/>
                </a:lnTo>
                <a:lnTo>
                  <a:pt x="3938588" y="4599556"/>
                </a:lnTo>
                <a:lnTo>
                  <a:pt x="0" y="4599556"/>
                </a:lnTo>
                <a:lnTo>
                  <a:pt x="0" y="0"/>
                </a:lnTo>
                <a:close/>
              </a:path>
            </a:pathLst>
          </a:custGeom>
          <a:blipFill>
            <a:blip>
              <a:extLst>
                <a:ext uri="{96DAC541-7B7A-43D3-8B79-37D633B846F1}">
                  <asvg:svgBlip xmlns:asvg="http://schemas.microsoft.com/office/drawing/2016/SVG/main" r:embed="rId3"/>
                </a:ext>
              </a:extLst>
            </a:blip>
            <a:stretch>
              <a:fillRect t="-54" b="-54"/>
            </a:stretch>
          </a:blipFill>
        </p:spPr>
      </p:sp>
      <p:grpSp>
        <p:nvGrpSpPr>
          <p:cNvPr id="14" name="Group 14"/>
          <p:cNvGrpSpPr/>
          <p:nvPr/>
        </p:nvGrpSpPr>
        <p:grpSpPr>
          <a:xfrm>
            <a:off x="6949650" y="2196189"/>
            <a:ext cx="276587" cy="345700"/>
            <a:chOff x="0" y="0"/>
            <a:chExt cx="368783" cy="460934"/>
          </a:xfrm>
        </p:grpSpPr>
        <p:sp>
          <p:nvSpPr>
            <p:cNvPr id="15" name="Freeform 15"/>
            <p:cNvSpPr/>
            <p:nvPr/>
          </p:nvSpPr>
          <p:spPr>
            <a:xfrm>
              <a:off x="0" y="0"/>
              <a:ext cx="368778" cy="460934"/>
            </a:xfrm>
            <a:custGeom>
              <a:avLst/>
              <a:gdLst/>
              <a:ahLst/>
              <a:cxnLst/>
              <a:rect l="l" t="t" r="r" b="b"/>
              <a:pathLst>
                <a:path w="368778" h="460934">
                  <a:moveTo>
                    <a:pt x="0" y="0"/>
                  </a:moveTo>
                  <a:lnTo>
                    <a:pt x="368778" y="0"/>
                  </a:lnTo>
                  <a:lnTo>
                    <a:pt x="368778" y="460934"/>
                  </a:lnTo>
                  <a:lnTo>
                    <a:pt x="0" y="460934"/>
                  </a:lnTo>
                  <a:close/>
                </a:path>
              </a:pathLst>
            </a:custGeom>
            <a:blipFill>
              <a:blip r:embed="rId4">
                <a:alphaModFix amt="0"/>
              </a:blip>
              <a:stretch>
                <a:fillRect l="-110365" r="-110366"/>
              </a:stretch>
            </a:blipFill>
          </p:spPr>
        </p:sp>
        <p:sp>
          <p:nvSpPr>
            <p:cNvPr id="16" name="TextBox 16"/>
            <p:cNvSpPr txBox="1"/>
            <p:nvPr/>
          </p:nvSpPr>
          <p:spPr>
            <a:xfrm>
              <a:off x="0" y="-19050"/>
              <a:ext cx="368783" cy="479984"/>
            </a:xfrm>
            <a:prstGeom prst="rect">
              <a:avLst/>
            </a:prstGeom>
          </p:spPr>
          <p:txBody>
            <a:bodyPr lIns="0" tIns="0" rIns="0" bIns="0" rtlCol="0" anchor="ctr"/>
            <a:lstStyle/>
            <a:p>
              <a:pPr algn="ctr">
                <a:lnSpc>
                  <a:spcPts val="2612"/>
                </a:lnSpc>
              </a:pPr>
              <a:r>
                <a:rPr lang="en-US" sz="2176" b="1" spc="-36">
                  <a:solidFill>
                    <a:srgbClr val="FFFFFF"/>
                  </a:solidFill>
                  <a:latin typeface="Petrona Bold"/>
                  <a:ea typeface="Petrona Bold"/>
                  <a:cs typeface="Petrona Bold"/>
                  <a:sym typeface="Petrona Bold"/>
                </a:rPr>
                <a:t>2</a:t>
              </a:r>
            </a:p>
          </p:txBody>
        </p:sp>
      </p:grpSp>
      <p:sp>
        <p:nvSpPr>
          <p:cNvPr id="17" name="TextBox 17"/>
          <p:cNvSpPr txBox="1"/>
          <p:nvPr/>
        </p:nvSpPr>
        <p:spPr>
          <a:xfrm>
            <a:off x="5377653" y="2926175"/>
            <a:ext cx="3420570" cy="1207627"/>
          </a:xfrm>
          <a:prstGeom prst="rect">
            <a:avLst/>
          </a:prstGeom>
        </p:spPr>
        <p:txBody>
          <a:bodyPr lIns="0" tIns="0" rIns="0" bIns="0" rtlCol="0" anchor="t">
            <a:spAutoFit/>
          </a:bodyPr>
          <a:lstStyle/>
          <a:p>
            <a:pPr algn="l">
              <a:lnSpc>
                <a:spcPts val="3091"/>
              </a:lnSpc>
            </a:pPr>
            <a:r>
              <a:rPr lang="en-US" sz="2476" b="1" spc="-49">
                <a:solidFill>
                  <a:srgbClr val="272525"/>
                </a:solidFill>
                <a:latin typeface="Petrona Bold"/>
                <a:ea typeface="Petrona Bold"/>
                <a:cs typeface="Petrona Bold"/>
                <a:sym typeface="Petrona Bold"/>
              </a:rPr>
              <a:t>Module 2 — Preprocessing &amp; Feature Engineering</a:t>
            </a:r>
          </a:p>
        </p:txBody>
      </p:sp>
      <p:sp>
        <p:nvSpPr>
          <p:cNvPr id="18" name="TextBox 18"/>
          <p:cNvSpPr txBox="1"/>
          <p:nvPr/>
        </p:nvSpPr>
        <p:spPr>
          <a:xfrm>
            <a:off x="5377653" y="4198487"/>
            <a:ext cx="3420570" cy="2165318"/>
          </a:xfrm>
          <a:prstGeom prst="rect">
            <a:avLst/>
          </a:prstGeom>
        </p:spPr>
        <p:txBody>
          <a:bodyPr lIns="0" tIns="0" rIns="0" bIns="0" rtlCol="0" anchor="t">
            <a:spAutoFit/>
          </a:bodyPr>
          <a:lstStyle/>
          <a:p>
            <a:pPr algn="l">
              <a:lnSpc>
                <a:spcPts val="2615"/>
              </a:lnSpc>
            </a:pPr>
            <a:r>
              <a:rPr lang="en-US" sz="1801" spc="-36">
                <a:solidFill>
                  <a:srgbClr val="272525"/>
                </a:solidFill>
                <a:latin typeface="Inter"/>
                <a:ea typeface="Inter"/>
                <a:cs typeface="Inter"/>
                <a:sym typeface="Inter"/>
              </a:rPr>
              <a:t>Objective: Impute, encode, scale, and create informative features.</a:t>
            </a:r>
          </a:p>
          <a:p>
            <a:pPr algn="l">
              <a:lnSpc>
                <a:spcPts val="2615"/>
              </a:lnSpc>
            </a:pPr>
            <a:r>
              <a:rPr lang="en-US" sz="1801" spc="-36">
                <a:solidFill>
                  <a:srgbClr val="272525"/>
                </a:solidFill>
                <a:latin typeface="Inter"/>
                <a:ea typeface="Inter"/>
                <a:cs typeface="Inter"/>
                <a:sym typeface="Inter"/>
              </a:rPr>
              <a:t>Outcome: Production‑ready feature set and transformation pipeline.</a:t>
            </a:r>
          </a:p>
        </p:txBody>
      </p:sp>
      <p:sp>
        <p:nvSpPr>
          <p:cNvPr id="19" name="Freeform 19" descr="preencoded.png"/>
          <p:cNvSpPr/>
          <p:nvPr/>
        </p:nvSpPr>
        <p:spPr>
          <a:xfrm>
            <a:off x="9244451" y="2023262"/>
            <a:ext cx="3938588" cy="4599556"/>
          </a:xfrm>
          <a:custGeom>
            <a:avLst/>
            <a:gdLst/>
            <a:ahLst/>
            <a:cxnLst/>
            <a:rect l="l" t="t" r="r" b="b"/>
            <a:pathLst>
              <a:path w="3938588" h="4599556">
                <a:moveTo>
                  <a:pt x="0" y="0"/>
                </a:moveTo>
                <a:lnTo>
                  <a:pt x="3938587" y="0"/>
                </a:lnTo>
                <a:lnTo>
                  <a:pt x="3938587" y="4599556"/>
                </a:lnTo>
                <a:lnTo>
                  <a:pt x="0" y="4599556"/>
                </a:lnTo>
                <a:lnTo>
                  <a:pt x="0" y="0"/>
                </a:lnTo>
                <a:close/>
              </a:path>
            </a:pathLst>
          </a:custGeom>
          <a:blipFill>
            <a:blip>
              <a:extLst>
                <a:ext uri="{96DAC541-7B7A-43D3-8B79-37D633B846F1}">
                  <asvg:svgBlip xmlns:asvg="http://schemas.microsoft.com/office/drawing/2016/SVG/main" r:embed="rId3"/>
                </a:ext>
              </a:extLst>
            </a:blip>
            <a:stretch>
              <a:fillRect t="-54" b="-54"/>
            </a:stretch>
          </a:blipFill>
        </p:spPr>
      </p:sp>
      <p:grpSp>
        <p:nvGrpSpPr>
          <p:cNvPr id="20" name="Group 20"/>
          <p:cNvGrpSpPr/>
          <p:nvPr/>
        </p:nvGrpSpPr>
        <p:grpSpPr>
          <a:xfrm>
            <a:off x="11075460" y="2196189"/>
            <a:ext cx="276587" cy="345700"/>
            <a:chOff x="0" y="0"/>
            <a:chExt cx="368783" cy="460934"/>
          </a:xfrm>
        </p:grpSpPr>
        <p:sp>
          <p:nvSpPr>
            <p:cNvPr id="21" name="Freeform 21"/>
            <p:cNvSpPr/>
            <p:nvPr/>
          </p:nvSpPr>
          <p:spPr>
            <a:xfrm>
              <a:off x="0" y="0"/>
              <a:ext cx="368778" cy="460934"/>
            </a:xfrm>
            <a:custGeom>
              <a:avLst/>
              <a:gdLst/>
              <a:ahLst/>
              <a:cxnLst/>
              <a:rect l="l" t="t" r="r" b="b"/>
              <a:pathLst>
                <a:path w="368778" h="460934">
                  <a:moveTo>
                    <a:pt x="0" y="0"/>
                  </a:moveTo>
                  <a:lnTo>
                    <a:pt x="368778" y="0"/>
                  </a:lnTo>
                  <a:lnTo>
                    <a:pt x="368778" y="460934"/>
                  </a:lnTo>
                  <a:lnTo>
                    <a:pt x="0" y="460934"/>
                  </a:lnTo>
                  <a:close/>
                </a:path>
              </a:pathLst>
            </a:custGeom>
            <a:blipFill>
              <a:blip r:embed="rId4">
                <a:alphaModFix amt="0"/>
              </a:blip>
              <a:stretch>
                <a:fillRect l="-110365" r="-110366"/>
              </a:stretch>
            </a:blipFill>
          </p:spPr>
        </p:sp>
        <p:sp>
          <p:nvSpPr>
            <p:cNvPr id="22" name="TextBox 22"/>
            <p:cNvSpPr txBox="1"/>
            <p:nvPr/>
          </p:nvSpPr>
          <p:spPr>
            <a:xfrm>
              <a:off x="0" y="-19050"/>
              <a:ext cx="368783" cy="479984"/>
            </a:xfrm>
            <a:prstGeom prst="rect">
              <a:avLst/>
            </a:prstGeom>
          </p:spPr>
          <p:txBody>
            <a:bodyPr lIns="0" tIns="0" rIns="0" bIns="0" rtlCol="0" anchor="ctr"/>
            <a:lstStyle/>
            <a:p>
              <a:pPr algn="ctr">
                <a:lnSpc>
                  <a:spcPts val="2612"/>
                </a:lnSpc>
              </a:pPr>
              <a:r>
                <a:rPr lang="en-US" sz="2176" b="1" spc="-36">
                  <a:solidFill>
                    <a:srgbClr val="FFFFFF"/>
                  </a:solidFill>
                  <a:latin typeface="Petrona Bold"/>
                  <a:ea typeface="Petrona Bold"/>
                  <a:cs typeface="Petrona Bold"/>
                  <a:sym typeface="Petrona Bold"/>
                </a:rPr>
                <a:t>3</a:t>
              </a:r>
            </a:p>
          </p:txBody>
        </p:sp>
      </p:grpSp>
      <p:sp>
        <p:nvSpPr>
          <p:cNvPr id="23" name="TextBox 23"/>
          <p:cNvSpPr txBox="1"/>
          <p:nvPr/>
        </p:nvSpPr>
        <p:spPr>
          <a:xfrm>
            <a:off x="9503464" y="2926175"/>
            <a:ext cx="3420570" cy="811435"/>
          </a:xfrm>
          <a:prstGeom prst="rect">
            <a:avLst/>
          </a:prstGeom>
        </p:spPr>
        <p:txBody>
          <a:bodyPr lIns="0" tIns="0" rIns="0" bIns="0" rtlCol="0" anchor="t">
            <a:spAutoFit/>
          </a:bodyPr>
          <a:lstStyle/>
          <a:p>
            <a:pPr algn="l">
              <a:lnSpc>
                <a:spcPts val="3091"/>
              </a:lnSpc>
            </a:pPr>
            <a:r>
              <a:rPr lang="en-US" sz="2476" b="1" spc="-49">
                <a:solidFill>
                  <a:srgbClr val="272525"/>
                </a:solidFill>
                <a:latin typeface="Petrona Bold"/>
                <a:ea typeface="Petrona Bold"/>
                <a:cs typeface="Petrona Bold"/>
                <a:sym typeface="Petrona Bold"/>
              </a:rPr>
              <a:t>Module 3 — Model Development</a:t>
            </a:r>
          </a:p>
        </p:txBody>
      </p:sp>
      <p:sp>
        <p:nvSpPr>
          <p:cNvPr id="24" name="TextBox 24"/>
          <p:cNvSpPr txBox="1"/>
          <p:nvPr/>
        </p:nvSpPr>
        <p:spPr>
          <a:xfrm>
            <a:off x="9503464" y="3802294"/>
            <a:ext cx="3420570" cy="2165318"/>
          </a:xfrm>
          <a:prstGeom prst="rect">
            <a:avLst/>
          </a:prstGeom>
        </p:spPr>
        <p:txBody>
          <a:bodyPr lIns="0" tIns="0" rIns="0" bIns="0" rtlCol="0" anchor="t">
            <a:spAutoFit/>
          </a:bodyPr>
          <a:lstStyle/>
          <a:p>
            <a:pPr algn="l">
              <a:lnSpc>
                <a:spcPts val="2615"/>
              </a:lnSpc>
            </a:pPr>
            <a:r>
              <a:rPr lang="en-US" sz="1801" spc="-36">
                <a:solidFill>
                  <a:srgbClr val="272525"/>
                </a:solidFill>
                <a:latin typeface="Inter"/>
                <a:ea typeface="Inter"/>
                <a:cs typeface="Inter"/>
                <a:sym typeface="Inter"/>
              </a:rPr>
              <a:t>Objective: Train Random Forest and Gradient‑Boosted models with hyperparameter tuning.</a:t>
            </a:r>
          </a:p>
          <a:p>
            <a:pPr algn="l">
              <a:lnSpc>
                <a:spcPts val="2615"/>
              </a:lnSpc>
            </a:pPr>
            <a:r>
              <a:rPr lang="en-US" sz="1801" spc="-36">
                <a:solidFill>
                  <a:srgbClr val="272525"/>
                </a:solidFill>
                <a:latin typeface="Inter"/>
                <a:ea typeface="Inter"/>
                <a:cs typeface="Inter"/>
                <a:sym typeface="Inter"/>
              </a:rPr>
              <a:t>Outcome: Trained models with cross‑validated performance metrics.</a:t>
            </a:r>
          </a:p>
        </p:txBody>
      </p:sp>
      <p:sp>
        <p:nvSpPr>
          <p:cNvPr id="25" name="Freeform 25" descr="preencoded.png"/>
          <p:cNvSpPr/>
          <p:nvPr/>
        </p:nvSpPr>
        <p:spPr>
          <a:xfrm>
            <a:off x="13370262" y="2023262"/>
            <a:ext cx="3938588" cy="4599556"/>
          </a:xfrm>
          <a:custGeom>
            <a:avLst/>
            <a:gdLst/>
            <a:ahLst/>
            <a:cxnLst/>
            <a:rect l="l" t="t" r="r" b="b"/>
            <a:pathLst>
              <a:path w="3938588" h="4599556">
                <a:moveTo>
                  <a:pt x="0" y="0"/>
                </a:moveTo>
                <a:lnTo>
                  <a:pt x="3938587" y="0"/>
                </a:lnTo>
                <a:lnTo>
                  <a:pt x="3938587" y="4599556"/>
                </a:lnTo>
                <a:lnTo>
                  <a:pt x="0" y="4599556"/>
                </a:lnTo>
                <a:lnTo>
                  <a:pt x="0" y="0"/>
                </a:lnTo>
                <a:close/>
              </a:path>
            </a:pathLst>
          </a:custGeom>
          <a:blipFill>
            <a:blip>
              <a:extLst>
                <a:ext uri="{96DAC541-7B7A-43D3-8B79-37D633B846F1}">
                  <asvg:svgBlip xmlns:asvg="http://schemas.microsoft.com/office/drawing/2016/SVG/main" r:embed="rId3"/>
                </a:ext>
              </a:extLst>
            </a:blip>
            <a:stretch>
              <a:fillRect t="-54" b="-54"/>
            </a:stretch>
          </a:blipFill>
        </p:spPr>
      </p:sp>
      <p:grpSp>
        <p:nvGrpSpPr>
          <p:cNvPr id="26" name="Group 26"/>
          <p:cNvGrpSpPr/>
          <p:nvPr/>
        </p:nvGrpSpPr>
        <p:grpSpPr>
          <a:xfrm>
            <a:off x="15201262" y="2196189"/>
            <a:ext cx="276587" cy="345700"/>
            <a:chOff x="0" y="0"/>
            <a:chExt cx="368783" cy="460934"/>
          </a:xfrm>
        </p:grpSpPr>
        <p:sp>
          <p:nvSpPr>
            <p:cNvPr id="27" name="Freeform 27"/>
            <p:cNvSpPr/>
            <p:nvPr/>
          </p:nvSpPr>
          <p:spPr>
            <a:xfrm>
              <a:off x="0" y="0"/>
              <a:ext cx="368778" cy="460934"/>
            </a:xfrm>
            <a:custGeom>
              <a:avLst/>
              <a:gdLst/>
              <a:ahLst/>
              <a:cxnLst/>
              <a:rect l="l" t="t" r="r" b="b"/>
              <a:pathLst>
                <a:path w="368778" h="460934">
                  <a:moveTo>
                    <a:pt x="0" y="0"/>
                  </a:moveTo>
                  <a:lnTo>
                    <a:pt x="368778" y="0"/>
                  </a:lnTo>
                  <a:lnTo>
                    <a:pt x="368778" y="460934"/>
                  </a:lnTo>
                  <a:lnTo>
                    <a:pt x="0" y="460934"/>
                  </a:lnTo>
                  <a:close/>
                </a:path>
              </a:pathLst>
            </a:custGeom>
            <a:blipFill>
              <a:blip r:embed="rId4">
                <a:alphaModFix amt="0"/>
              </a:blip>
              <a:stretch>
                <a:fillRect l="-110365" r="-110366"/>
              </a:stretch>
            </a:blipFill>
          </p:spPr>
        </p:sp>
        <p:sp>
          <p:nvSpPr>
            <p:cNvPr id="28" name="TextBox 28"/>
            <p:cNvSpPr txBox="1"/>
            <p:nvPr/>
          </p:nvSpPr>
          <p:spPr>
            <a:xfrm>
              <a:off x="0" y="-19050"/>
              <a:ext cx="368783" cy="479984"/>
            </a:xfrm>
            <a:prstGeom prst="rect">
              <a:avLst/>
            </a:prstGeom>
          </p:spPr>
          <p:txBody>
            <a:bodyPr lIns="0" tIns="0" rIns="0" bIns="0" rtlCol="0" anchor="ctr"/>
            <a:lstStyle/>
            <a:p>
              <a:pPr algn="ctr">
                <a:lnSpc>
                  <a:spcPts val="2612"/>
                </a:lnSpc>
              </a:pPr>
              <a:r>
                <a:rPr lang="en-US" sz="2176" b="1" spc="-36">
                  <a:solidFill>
                    <a:srgbClr val="FFFFFF"/>
                  </a:solidFill>
                  <a:latin typeface="Petrona Bold"/>
                  <a:ea typeface="Petrona Bold"/>
                  <a:cs typeface="Petrona Bold"/>
                  <a:sym typeface="Petrona Bold"/>
                </a:rPr>
                <a:t>4</a:t>
              </a:r>
            </a:p>
          </p:txBody>
        </p:sp>
      </p:grpSp>
      <p:sp>
        <p:nvSpPr>
          <p:cNvPr id="29" name="TextBox 29"/>
          <p:cNvSpPr txBox="1"/>
          <p:nvPr/>
        </p:nvSpPr>
        <p:spPr>
          <a:xfrm>
            <a:off x="13629275" y="2926175"/>
            <a:ext cx="3420570" cy="811435"/>
          </a:xfrm>
          <a:prstGeom prst="rect">
            <a:avLst/>
          </a:prstGeom>
        </p:spPr>
        <p:txBody>
          <a:bodyPr lIns="0" tIns="0" rIns="0" bIns="0" rtlCol="0" anchor="t">
            <a:spAutoFit/>
          </a:bodyPr>
          <a:lstStyle/>
          <a:p>
            <a:pPr algn="l">
              <a:lnSpc>
                <a:spcPts val="3091"/>
              </a:lnSpc>
            </a:pPr>
            <a:r>
              <a:rPr lang="en-US" sz="2476" b="1" spc="-49">
                <a:solidFill>
                  <a:srgbClr val="272525"/>
                </a:solidFill>
                <a:latin typeface="Petrona Bold"/>
                <a:ea typeface="Petrona Bold"/>
                <a:cs typeface="Petrona Bold"/>
                <a:sym typeface="Petrona Bold"/>
              </a:rPr>
              <a:t>Module 4 — Evaluation &amp; Explainability</a:t>
            </a:r>
          </a:p>
        </p:txBody>
      </p:sp>
      <p:sp>
        <p:nvSpPr>
          <p:cNvPr id="30" name="TextBox 30"/>
          <p:cNvSpPr txBox="1"/>
          <p:nvPr/>
        </p:nvSpPr>
        <p:spPr>
          <a:xfrm>
            <a:off x="13629275" y="3802294"/>
            <a:ext cx="3420570" cy="2499551"/>
          </a:xfrm>
          <a:prstGeom prst="rect">
            <a:avLst/>
          </a:prstGeom>
        </p:spPr>
        <p:txBody>
          <a:bodyPr lIns="0" tIns="0" rIns="0" bIns="0" rtlCol="0" anchor="t">
            <a:spAutoFit/>
          </a:bodyPr>
          <a:lstStyle/>
          <a:p>
            <a:pPr algn="l">
              <a:lnSpc>
                <a:spcPts val="2615"/>
              </a:lnSpc>
            </a:pPr>
            <a:r>
              <a:rPr lang="en-US" sz="1801" spc="-36">
                <a:solidFill>
                  <a:srgbClr val="272525"/>
                </a:solidFill>
                <a:latin typeface="Inter"/>
                <a:ea typeface="Inter"/>
                <a:cs typeface="Inter"/>
                <a:sym typeface="Inter"/>
              </a:rPr>
              <a:t>Objective: Evaluate generalization, calibrate thresholds, and explain predictions.</a:t>
            </a:r>
          </a:p>
          <a:p>
            <a:pPr algn="l">
              <a:lnSpc>
                <a:spcPts val="2615"/>
              </a:lnSpc>
            </a:pPr>
            <a:r>
              <a:rPr lang="en-US" sz="1801" spc="-36">
                <a:solidFill>
                  <a:srgbClr val="272525"/>
                </a:solidFill>
                <a:latin typeface="Inter"/>
                <a:ea typeface="Inter"/>
                <a:cs typeface="Inter"/>
                <a:sym typeface="Inter"/>
              </a:rPr>
              <a:t>Outcome: Confusion matrices, ROC‑AUC, SHAP explanations, and decision thresholds.</a:t>
            </a:r>
          </a:p>
        </p:txBody>
      </p:sp>
      <p:sp>
        <p:nvSpPr>
          <p:cNvPr id="31" name="Freeform 31" descr="preencoded.png"/>
          <p:cNvSpPr/>
          <p:nvPr/>
        </p:nvSpPr>
        <p:spPr>
          <a:xfrm>
            <a:off x="992991" y="6810042"/>
            <a:ext cx="16315868" cy="2470242"/>
          </a:xfrm>
          <a:custGeom>
            <a:avLst/>
            <a:gdLst/>
            <a:ahLst/>
            <a:cxnLst/>
            <a:rect l="l" t="t" r="r" b="b"/>
            <a:pathLst>
              <a:path w="16315868" h="2470242">
                <a:moveTo>
                  <a:pt x="0" y="0"/>
                </a:moveTo>
                <a:lnTo>
                  <a:pt x="16315868" y="0"/>
                </a:lnTo>
                <a:lnTo>
                  <a:pt x="16315868" y="2470242"/>
                </a:lnTo>
                <a:lnTo>
                  <a:pt x="0" y="2470242"/>
                </a:lnTo>
                <a:lnTo>
                  <a:pt x="0" y="0"/>
                </a:lnTo>
                <a:close/>
              </a:path>
            </a:pathLst>
          </a:custGeom>
          <a:blipFill>
            <a:blip>
              <a:extLst>
                <a:ext uri="{96DAC541-7B7A-43D3-8B79-37D633B846F1}">
                  <asvg:svgBlip xmlns:asvg="http://schemas.microsoft.com/office/drawing/2016/SVG/main" r:embed="rId5"/>
                </a:ext>
              </a:extLst>
            </a:blip>
            <a:stretch>
              <a:fillRect t="-318" b="-318"/>
            </a:stretch>
          </a:blipFill>
        </p:spPr>
      </p:sp>
      <p:grpSp>
        <p:nvGrpSpPr>
          <p:cNvPr id="32" name="Group 32"/>
          <p:cNvGrpSpPr/>
          <p:nvPr/>
        </p:nvGrpSpPr>
        <p:grpSpPr>
          <a:xfrm>
            <a:off x="9012631" y="6982968"/>
            <a:ext cx="276587" cy="345700"/>
            <a:chOff x="0" y="0"/>
            <a:chExt cx="368783" cy="460934"/>
          </a:xfrm>
        </p:grpSpPr>
        <p:sp>
          <p:nvSpPr>
            <p:cNvPr id="33" name="Freeform 33"/>
            <p:cNvSpPr/>
            <p:nvPr/>
          </p:nvSpPr>
          <p:spPr>
            <a:xfrm>
              <a:off x="0" y="0"/>
              <a:ext cx="368778" cy="460934"/>
            </a:xfrm>
            <a:custGeom>
              <a:avLst/>
              <a:gdLst/>
              <a:ahLst/>
              <a:cxnLst/>
              <a:rect l="l" t="t" r="r" b="b"/>
              <a:pathLst>
                <a:path w="368778" h="460934">
                  <a:moveTo>
                    <a:pt x="0" y="0"/>
                  </a:moveTo>
                  <a:lnTo>
                    <a:pt x="368778" y="0"/>
                  </a:lnTo>
                  <a:lnTo>
                    <a:pt x="368778" y="460934"/>
                  </a:lnTo>
                  <a:lnTo>
                    <a:pt x="0" y="460934"/>
                  </a:lnTo>
                  <a:close/>
                </a:path>
              </a:pathLst>
            </a:custGeom>
            <a:blipFill>
              <a:blip r:embed="rId4">
                <a:alphaModFix amt="0"/>
              </a:blip>
              <a:stretch>
                <a:fillRect l="-110365" r="-110366"/>
              </a:stretch>
            </a:blipFill>
          </p:spPr>
        </p:sp>
        <p:sp>
          <p:nvSpPr>
            <p:cNvPr id="34" name="TextBox 34"/>
            <p:cNvSpPr txBox="1"/>
            <p:nvPr/>
          </p:nvSpPr>
          <p:spPr>
            <a:xfrm>
              <a:off x="0" y="-19050"/>
              <a:ext cx="368783" cy="479984"/>
            </a:xfrm>
            <a:prstGeom prst="rect">
              <a:avLst/>
            </a:prstGeom>
          </p:spPr>
          <p:txBody>
            <a:bodyPr lIns="0" tIns="0" rIns="0" bIns="0" rtlCol="0" anchor="ctr"/>
            <a:lstStyle/>
            <a:p>
              <a:pPr algn="ctr">
                <a:lnSpc>
                  <a:spcPts val="2612"/>
                </a:lnSpc>
              </a:pPr>
              <a:r>
                <a:rPr lang="en-US" sz="2176" b="1" spc="-36">
                  <a:solidFill>
                    <a:srgbClr val="FFFFFF"/>
                  </a:solidFill>
                  <a:latin typeface="Petrona Bold"/>
                  <a:ea typeface="Petrona Bold"/>
                  <a:cs typeface="Petrona Bold"/>
                  <a:sym typeface="Petrona Bold"/>
                </a:rPr>
                <a:t>5</a:t>
              </a:r>
            </a:p>
          </p:txBody>
        </p:sp>
      </p:grpSp>
      <p:sp>
        <p:nvSpPr>
          <p:cNvPr id="35" name="TextBox 35"/>
          <p:cNvSpPr txBox="1"/>
          <p:nvPr/>
        </p:nvSpPr>
        <p:spPr>
          <a:xfrm>
            <a:off x="1251995" y="7712954"/>
            <a:ext cx="15797851" cy="415242"/>
          </a:xfrm>
          <a:prstGeom prst="rect">
            <a:avLst/>
          </a:prstGeom>
        </p:spPr>
        <p:txBody>
          <a:bodyPr lIns="0" tIns="0" rIns="0" bIns="0" rtlCol="0" anchor="t">
            <a:spAutoFit/>
          </a:bodyPr>
          <a:lstStyle/>
          <a:p>
            <a:pPr algn="l">
              <a:lnSpc>
                <a:spcPts val="3091"/>
              </a:lnSpc>
            </a:pPr>
            <a:r>
              <a:rPr lang="en-US" sz="2476" b="1" spc="-49">
                <a:solidFill>
                  <a:srgbClr val="272525"/>
                </a:solidFill>
                <a:latin typeface="Petrona Bold"/>
                <a:ea typeface="Petrona Bold"/>
                <a:cs typeface="Petrona Bold"/>
                <a:sym typeface="Petrona Bold"/>
              </a:rPr>
              <a:t>Module 5 — Prototype &amp; Reporting</a:t>
            </a:r>
          </a:p>
        </p:txBody>
      </p:sp>
      <p:sp>
        <p:nvSpPr>
          <p:cNvPr id="36" name="TextBox 36"/>
          <p:cNvSpPr txBox="1"/>
          <p:nvPr/>
        </p:nvSpPr>
        <p:spPr>
          <a:xfrm>
            <a:off x="1251995" y="8192881"/>
            <a:ext cx="15797851" cy="828389"/>
          </a:xfrm>
          <a:prstGeom prst="rect">
            <a:avLst/>
          </a:prstGeom>
        </p:spPr>
        <p:txBody>
          <a:bodyPr lIns="0" tIns="0" rIns="0" bIns="0" rtlCol="0" anchor="t">
            <a:spAutoFit/>
          </a:bodyPr>
          <a:lstStyle/>
          <a:p>
            <a:pPr algn="l">
              <a:lnSpc>
                <a:spcPts val="2615"/>
              </a:lnSpc>
            </a:pPr>
            <a:r>
              <a:rPr lang="en-US" sz="1801" spc="-36">
                <a:solidFill>
                  <a:srgbClr val="272525"/>
                </a:solidFill>
                <a:latin typeface="Inter"/>
                <a:ea typeface="Inter"/>
                <a:cs typeface="Inter"/>
                <a:sym typeface="Inter"/>
              </a:rPr>
              <a:t>Objective: Build a simple scoring API and prepare final report with signature block.</a:t>
            </a:r>
          </a:p>
          <a:p>
            <a:pPr algn="l">
              <a:lnSpc>
                <a:spcPts val="2615"/>
              </a:lnSpc>
            </a:pPr>
            <a:r>
              <a:rPr lang="en-US" sz="1801" spc="-36">
                <a:solidFill>
                  <a:srgbClr val="272525"/>
                </a:solidFill>
                <a:latin typeface="Inter"/>
                <a:ea typeface="Inter"/>
                <a:cs typeface="Inter"/>
                <a:sym typeface="Inter"/>
              </a:rPr>
              <a:t>Outcome: Prototype app (Flask/Streamlit), documentation, and signed project report.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sp>
      </p:grpSp>
      <p:grpSp>
        <p:nvGrpSpPr>
          <p:cNvPr id="4" name="Group 4"/>
          <p:cNvGrpSpPr/>
          <p:nvPr/>
        </p:nvGrpSpPr>
        <p:grpSpPr>
          <a:xfrm>
            <a:off x="-13840" y="-8039"/>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sp>
      </p:grpSp>
      <p:sp>
        <p:nvSpPr>
          <p:cNvPr id="6" name="TextBox 6"/>
          <p:cNvSpPr txBox="1"/>
          <p:nvPr/>
        </p:nvSpPr>
        <p:spPr>
          <a:xfrm>
            <a:off x="2057400" y="1104443"/>
            <a:ext cx="15260841" cy="766364"/>
          </a:xfrm>
          <a:prstGeom prst="rect">
            <a:avLst/>
          </a:prstGeom>
        </p:spPr>
        <p:txBody>
          <a:bodyPr wrap="square" lIns="0" tIns="0" rIns="0" bIns="0" rtlCol="0" anchor="t">
            <a:spAutoFit/>
          </a:bodyPr>
          <a:lstStyle/>
          <a:p>
            <a:pPr algn="l">
              <a:lnSpc>
                <a:spcPts val="6088"/>
              </a:lnSpc>
            </a:pPr>
            <a:r>
              <a:rPr lang="en-US" sz="4878" b="1" spc="-97" dirty="0">
                <a:solidFill>
                  <a:srgbClr val="F95F88"/>
                </a:solidFill>
                <a:latin typeface="Petrona Bold"/>
                <a:ea typeface="Petrona Bold"/>
                <a:cs typeface="Petrona Bold"/>
                <a:sym typeface="Petrona Bold"/>
              </a:rPr>
              <a:t>Conclusions, Limitations &amp; Next Steps</a:t>
            </a:r>
          </a:p>
        </p:txBody>
      </p:sp>
      <p:sp>
        <p:nvSpPr>
          <p:cNvPr id="7" name="TextBox 7"/>
          <p:cNvSpPr txBox="1"/>
          <p:nvPr/>
        </p:nvSpPr>
        <p:spPr>
          <a:xfrm>
            <a:off x="2286000" y="2120732"/>
            <a:ext cx="15032241" cy="5340629"/>
          </a:xfrm>
          <a:prstGeom prst="rect">
            <a:avLst/>
          </a:prstGeom>
        </p:spPr>
        <p:txBody>
          <a:bodyPr wrap="square" lIns="0" tIns="0" rIns="0" bIns="0" rtlCol="0" anchor="t">
            <a:spAutoFit/>
          </a:bodyPr>
          <a:lstStyle/>
          <a:p>
            <a:pPr>
              <a:lnSpc>
                <a:spcPts val="3474"/>
              </a:lnSpc>
            </a:pPr>
            <a:r>
              <a:rPr lang="en-US" sz="2176" spc="-45" dirty="0">
                <a:solidFill>
                  <a:srgbClr val="272525"/>
                </a:solidFill>
                <a:latin typeface="Inter"/>
                <a:ea typeface="Inter"/>
                <a:cs typeface="Inter"/>
                <a:sym typeface="Inter"/>
              </a:rPr>
              <a:t>Ensemble tree models (especially gradient boosting) reliably identify high‑risk borrowers when paired with careful preprocessing and explainability tools.</a:t>
            </a:r>
          </a:p>
          <a:p>
            <a:pPr>
              <a:lnSpc>
                <a:spcPts val="3474"/>
              </a:lnSpc>
            </a:pPr>
            <a:r>
              <a:rPr lang="en-US" sz="2176" spc="-45" dirty="0">
                <a:solidFill>
                  <a:srgbClr val="272525"/>
                </a:solidFill>
                <a:latin typeface="Inter"/>
                <a:ea typeface="Inter"/>
                <a:cs typeface="Inter"/>
                <a:sym typeface="Inter"/>
              </a:rPr>
              <a:t>The approach supports safer lending decisions and risk mitigation.</a:t>
            </a:r>
          </a:p>
          <a:p>
            <a:pPr>
              <a:lnSpc>
                <a:spcPts val="3474"/>
              </a:lnSpc>
            </a:pPr>
            <a:endParaRPr lang="en-US" sz="2176" b="1" spc="-45" dirty="0">
              <a:solidFill>
                <a:srgbClr val="272525"/>
              </a:solidFill>
              <a:latin typeface="Inter"/>
              <a:ea typeface="Inter"/>
              <a:cs typeface="Inter"/>
              <a:sym typeface="Inter"/>
            </a:endParaRPr>
          </a:p>
          <a:p>
            <a:pPr>
              <a:lnSpc>
                <a:spcPts val="3474"/>
              </a:lnSpc>
            </a:pPr>
            <a:endParaRPr lang="en-US" sz="2176" b="1" spc="-45" dirty="0">
              <a:solidFill>
                <a:srgbClr val="272525"/>
              </a:solidFill>
              <a:latin typeface="Inter"/>
              <a:ea typeface="Inter"/>
              <a:cs typeface="Inter"/>
              <a:sym typeface="Inter"/>
            </a:endParaRPr>
          </a:p>
          <a:p>
            <a:pPr>
              <a:lnSpc>
                <a:spcPts val="3474"/>
              </a:lnSpc>
            </a:pPr>
            <a:r>
              <a:rPr lang="en-US" sz="2176" b="1" spc="-45" dirty="0">
                <a:solidFill>
                  <a:srgbClr val="272525"/>
                </a:solidFill>
                <a:latin typeface="Inter"/>
                <a:ea typeface="Inter"/>
                <a:cs typeface="Inter"/>
                <a:sym typeface="Inter"/>
              </a:rPr>
              <a:t>Limitations:</a:t>
            </a:r>
          </a:p>
          <a:p>
            <a:pPr>
              <a:lnSpc>
                <a:spcPts val="3474"/>
              </a:lnSpc>
            </a:pPr>
            <a:r>
              <a:rPr lang="en-US" sz="2176" spc="-45" dirty="0">
                <a:solidFill>
                  <a:srgbClr val="272525"/>
                </a:solidFill>
                <a:latin typeface="Inter"/>
                <a:ea typeface="Inter"/>
                <a:cs typeface="Inter"/>
                <a:sym typeface="Inter"/>
              </a:rPr>
              <a:t> Model performance depends on data quality and representativeness. Potential biases (e.g., socio‑economic proxies) must be analyzed and mitigated to meet fairness and regulatory requirements.</a:t>
            </a:r>
          </a:p>
          <a:p>
            <a:pPr marL="394236" lvl="1" indent="-197118">
              <a:lnSpc>
                <a:spcPts val="3474"/>
              </a:lnSpc>
              <a:buAutoNum type="arabicPeriod"/>
            </a:pPr>
            <a:r>
              <a:rPr lang="en-US" sz="2176" spc="-45" dirty="0">
                <a:solidFill>
                  <a:srgbClr val="272525"/>
                </a:solidFill>
                <a:latin typeface="Inter"/>
                <a:ea typeface="Inter"/>
                <a:cs typeface="Inter"/>
                <a:sym typeface="Inter"/>
              </a:rPr>
              <a:t>Conduct fairness audits and bias mitigation (adversarial debiasing, reweighing).</a:t>
            </a:r>
          </a:p>
          <a:p>
            <a:pPr marL="394236" lvl="1" indent="-197118">
              <a:lnSpc>
                <a:spcPts val="3474"/>
              </a:lnSpc>
              <a:buAutoNum type="arabicPeriod"/>
            </a:pPr>
            <a:r>
              <a:rPr lang="en-US" sz="2176" spc="-45" dirty="0">
                <a:solidFill>
                  <a:srgbClr val="272525"/>
                </a:solidFill>
                <a:latin typeface="Inter"/>
                <a:ea typeface="Inter"/>
                <a:cs typeface="Inter"/>
                <a:sym typeface="Inter"/>
              </a:rPr>
              <a:t>Integrate cost‑sensitive learning to align predictions with financial impact.</a:t>
            </a:r>
          </a:p>
          <a:p>
            <a:pPr marL="394236" lvl="1" indent="-197118">
              <a:lnSpc>
                <a:spcPts val="3474"/>
              </a:lnSpc>
              <a:buAutoNum type="arabicPeriod"/>
            </a:pPr>
            <a:r>
              <a:rPr lang="en-US" sz="2176" spc="-45" dirty="0">
                <a:solidFill>
                  <a:srgbClr val="272525"/>
                </a:solidFill>
                <a:latin typeface="Inter"/>
                <a:ea typeface="Inter"/>
                <a:cs typeface="Inter"/>
                <a:sym typeface="Inter"/>
              </a:rPr>
              <a:t>Deploy an explainable scoring service with human‑in‑the‑loop review for flagged cases.</a:t>
            </a:r>
          </a:p>
          <a:p>
            <a:pPr>
              <a:lnSpc>
                <a:spcPts val="3474"/>
              </a:lnSpc>
            </a:pPr>
            <a:endParaRPr lang="en-US" sz="2176" spc="-45" dirty="0">
              <a:solidFill>
                <a:srgbClr val="272525"/>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1019</Words>
  <Application>Microsoft Office PowerPoint</Application>
  <PresentationFormat>Custom</PresentationFormat>
  <Paragraphs>104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Petrona Bold</vt:lpstr>
      <vt:lpstr>Inter Bold</vt:lpstr>
      <vt:lpstr>Inter</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Loan-Default-Prediction-Using-Random-Forest-and-GradientBoosted-Trees.pptx</dc:title>
  <cp:lastModifiedBy>Chegireddy Thanvi</cp:lastModifiedBy>
  <cp:revision>2</cp:revision>
  <dcterms:created xsi:type="dcterms:W3CDTF">2006-08-16T00:00:00Z</dcterms:created>
  <dcterms:modified xsi:type="dcterms:W3CDTF">2026-08-28T06:34:27Z</dcterms:modified>
  <dc:identifier>DAHTjZ_oxFw</dc:identifier>
</cp:coreProperties>
</file>